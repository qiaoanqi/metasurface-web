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f4f49132a4453" /><Relationship Type="http://schemas.openxmlformats.org/officeDocument/2006/relationships/extended-properties" Target="/docProps/app.xml" Id="Rfb6f15944a664c77" /><Relationship Type="http://schemas.openxmlformats.org/officeDocument/2006/relationships/officeDocument" Target="/ppt/presentation.xml" Id="R29b7d9ed0265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844daa9a64eb7"/>
  </p:sldMasterIdLst>
  <p:notesMasterIdLst>
    <p:notesMasterId xmlns:r="http://schemas.openxmlformats.org/officeDocument/2006/relationships" r:id="R2c9b3d87808944df"/>
  </p:notesMasterIdLst>
  <p:sldIdLst>
    <p:sldId xmlns:r="http://schemas.openxmlformats.org/officeDocument/2006/relationships" id="256" r:id="R96414634972c4d42"/>
    <p:sldId xmlns:r="http://schemas.openxmlformats.org/officeDocument/2006/relationships" id="257" r:id="R9ee6a2863f7b4029"/>
    <p:sldId xmlns:r="http://schemas.openxmlformats.org/officeDocument/2006/relationships" id="258" r:id="Rdfdd7c2705c74e72"/>
    <p:sldId xmlns:r="http://schemas.openxmlformats.org/officeDocument/2006/relationships" id="259" r:id="R0eb2f14cd6e8437e"/>
    <p:sldId xmlns:r="http://schemas.openxmlformats.org/officeDocument/2006/relationships" id="260" r:id="Rf2f8d43444204522"/>
    <p:sldId xmlns:r="http://schemas.openxmlformats.org/officeDocument/2006/relationships" id="261" r:id="Rb1c0e2d413c64728"/>
    <p:sldId xmlns:r="http://schemas.openxmlformats.org/officeDocument/2006/relationships" id="262" r:id="Rd247db6842154a6d"/>
    <p:sldId xmlns:r="http://schemas.openxmlformats.org/officeDocument/2006/relationships" id="263" r:id="Rda351dbe776c4223"/>
    <p:sldId xmlns:r="http://schemas.openxmlformats.org/officeDocument/2006/relationships" id="264" r:id="R0e5a51119d0d45ed"/>
    <p:sldId xmlns:r="http://schemas.openxmlformats.org/officeDocument/2006/relationships" id="265" r:id="R91cefcb7d80d4ad5"/>
    <p:sldId xmlns:r="http://schemas.openxmlformats.org/officeDocument/2006/relationships" id="266" r:id="R7bc537be690141fe"/>
    <p:sldId xmlns:r="http://schemas.openxmlformats.org/officeDocument/2006/relationships" id="267" r:id="R8d621b315abd4dd8"/>
    <p:sldId xmlns:r="http://schemas.openxmlformats.org/officeDocument/2006/relationships" id="268" r:id="Rffa93293f7a84192"/>
    <p:sldId xmlns:r="http://schemas.openxmlformats.org/officeDocument/2006/relationships" id="269" r:id="R6b313311230b4e97"/>
    <p:sldId xmlns:r="http://schemas.openxmlformats.org/officeDocument/2006/relationships" id="270" r:id="Rd64a17793c8b4b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c7df25b63140de" /><Relationship Type="http://schemas.openxmlformats.org/officeDocument/2006/relationships/slideMaster" Target="/ppt/slideMasters/slideMaster1.xml" Id="R2b4844daa9a64eb7" /><Relationship Type="http://schemas.openxmlformats.org/officeDocument/2006/relationships/notesMaster" Target="/ppt/notesMasters/notesMaster1.xml" Id="R2c9b3d87808944df" /><Relationship Type="http://schemas.openxmlformats.org/officeDocument/2006/relationships/presProps" Target="/ppt/presProps.xml" Id="R6b26d816b3bf4aa6" /><Relationship Type="http://schemas.openxmlformats.org/officeDocument/2006/relationships/tableStyles" Target="/ppt/tableStyles.xml" Id="Rf37082fdbe174e9a" /><Relationship Type="http://schemas.openxmlformats.org/officeDocument/2006/relationships/slide" Target="/ppt/slides/slide1.xml" Id="R96414634972c4d42" /><Relationship Type="http://schemas.openxmlformats.org/officeDocument/2006/relationships/slide" Target="/ppt/slides/slide2.xml" Id="R9ee6a2863f7b4029" /><Relationship Type="http://schemas.openxmlformats.org/officeDocument/2006/relationships/slide" Target="/ppt/slides/slide3.xml" Id="Rdfdd7c2705c74e72" /><Relationship Type="http://schemas.openxmlformats.org/officeDocument/2006/relationships/slide" Target="/ppt/slides/slide4.xml" Id="R0eb2f14cd6e8437e" /><Relationship Type="http://schemas.openxmlformats.org/officeDocument/2006/relationships/slide" Target="/ppt/slides/slide5.xml" Id="Rf2f8d43444204522" /><Relationship Type="http://schemas.openxmlformats.org/officeDocument/2006/relationships/slide" Target="/ppt/slides/slide6.xml" Id="Rb1c0e2d413c64728" /><Relationship Type="http://schemas.openxmlformats.org/officeDocument/2006/relationships/slide" Target="/ppt/slides/slide7.xml" Id="Rd247db6842154a6d" /><Relationship Type="http://schemas.openxmlformats.org/officeDocument/2006/relationships/slide" Target="/ppt/slides/slide8.xml" Id="Rda351dbe776c4223" /><Relationship Type="http://schemas.openxmlformats.org/officeDocument/2006/relationships/slide" Target="/ppt/slides/slide9.xml" Id="R0e5a51119d0d45ed" /><Relationship Type="http://schemas.openxmlformats.org/officeDocument/2006/relationships/slide" Target="/ppt/slides/slide10.xml" Id="R91cefcb7d80d4ad5" /><Relationship Type="http://schemas.openxmlformats.org/officeDocument/2006/relationships/slide" Target="/ppt/slides/slide11.xml" Id="R7bc537be690141fe" /><Relationship Type="http://schemas.openxmlformats.org/officeDocument/2006/relationships/slide" Target="/ppt/slides/slide12.xml" Id="R8d621b315abd4dd8" /><Relationship Type="http://schemas.openxmlformats.org/officeDocument/2006/relationships/slide" Target="/ppt/slides/slide13.xml" Id="Rffa93293f7a84192" /><Relationship Type="http://schemas.openxmlformats.org/officeDocument/2006/relationships/slide" Target="/ppt/slides/slide14.xml" Id="R6b313311230b4e97" /><Relationship Type="http://schemas.openxmlformats.org/officeDocument/2006/relationships/slide" Target="/ppt/slides/slide15.xml" Id="Rd64a17793c8b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4ee9166a7e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bfebd21274dc2" /><Relationship Type="http://schemas.openxmlformats.org/officeDocument/2006/relationships/notesMaster" Target="/ppt/notesMasters/notesMaster1.xml" Id="Rf50ddb5e5b5a45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c08edefc14cc4" /><Relationship Type="http://schemas.openxmlformats.org/officeDocument/2006/relationships/notesMaster" Target="/ppt/notesMasters/notesMaster1.xml" Id="R2ab4ed478e5948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98f808af04156" /><Relationship Type="http://schemas.openxmlformats.org/officeDocument/2006/relationships/notesMaster" Target="/ppt/notesMasters/notesMaster1.xml" Id="R0e6122d00b3342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38d6c6426d489f" /><Relationship Type="http://schemas.openxmlformats.org/officeDocument/2006/relationships/notesMaster" Target="/ppt/notesMasters/notesMaster1.xml" Id="Rc95c07cab9eb4c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9e2295f4f7492b" /><Relationship Type="http://schemas.openxmlformats.org/officeDocument/2006/relationships/notesMaster" Target="/ppt/notesMasters/notesMaster1.xml" Id="Ra18f22ad36014e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2cd9c08ec1454a" /><Relationship Type="http://schemas.openxmlformats.org/officeDocument/2006/relationships/notesMaster" Target="/ppt/notesMasters/notesMaster1.xml" Id="R99ec287293804d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f04ad0e1ef4750" /><Relationship Type="http://schemas.openxmlformats.org/officeDocument/2006/relationships/notesMaster" Target="/ppt/notesMasters/notesMaster1.xml" Id="Ra56662e6a94646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13b648e6a147eb" /><Relationship Type="http://schemas.openxmlformats.org/officeDocument/2006/relationships/notesMaster" Target="/ppt/notesMasters/notesMaster1.xml" Id="R2123007ab43844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56662bd5fb40f7" /><Relationship Type="http://schemas.openxmlformats.org/officeDocument/2006/relationships/notesMaster" Target="/ppt/notesMasters/notesMaster1.xml" Id="R9cc3acc9e57e44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b4fc1bfee8400a" /><Relationship Type="http://schemas.openxmlformats.org/officeDocument/2006/relationships/notesMaster" Target="/ppt/notesMasters/notesMaster1.xml" Id="Rc38162163d2548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194c0c978f410c" /><Relationship Type="http://schemas.openxmlformats.org/officeDocument/2006/relationships/notesMaster" Target="/ppt/notesMasters/notesMaster1.xml" Id="R50e578dfb8d04f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b9f301087740ff" /><Relationship Type="http://schemas.openxmlformats.org/officeDocument/2006/relationships/notesMaster" Target="/ppt/notesMasters/notesMaster1.xml" Id="Re22a034d637d43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949ad6a20f4b72" /><Relationship Type="http://schemas.openxmlformats.org/officeDocument/2006/relationships/notesMaster" Target="/ppt/notesMasters/notesMaster1.xml" Id="R0e068191e6be40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933724f75c491c" /><Relationship Type="http://schemas.openxmlformats.org/officeDocument/2006/relationships/notesMaster" Target="/ppt/notesMasters/notesMaster1.xml" Id="R53170f79991843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e733695d8b41d2" /><Relationship Type="http://schemas.openxmlformats.org/officeDocument/2006/relationships/notesMaster" Target="/ppt/notesMasters/notesMaster1.xml" Id="Rc7ee4630cc4340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</a:t>
            </a:r>
          </a:p>
          <a:p xmlns:a="http://schemas.openxmlformats.org/drawingml/2006/main">
            <a:r>
              <a:t>各位评委老师好，我是404 Not Found队的主讲人。我们汇报的作品是AI超表面结构色智能设计系统，参赛方向是AI+软件创新。项目面向微纳光学的早期设计，把目标颜色、候选结构、光谱分析和结果导出放在一个本地可运行的软件中。接下来重点介绍软件如何结合AI，以及我们用什么证据验证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output/playwright/main8503-preview-1440.png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25 秒</a:t>
            </a:r>
          </a:p>
          <a:p xmlns:a="http://schemas.openxmlformats.org/drawingml/2006/main">
            <a:r>
              <a:t>团队成员为乔安琪、陈雍杰和郭千弘。我负责核心算法、系统开发和本次主讲。陈雍杰负责UI设计，郭千弘负责PPT制作。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用户确认的成员与实际贡献</a:t>
            </a:r>
          </a:p>
          <a:p xmlns:a="http://schemas.openxmlformats.org/drawingml/2006/main">
            <a:r>
              <a:t>校赛通知附件名单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结构色来自微纳结构对不同波长光的响应，改变直径、高度和周期，颜色就可能发生变化。早期设计者往往先有一个目标颜色，却不知道从哪组参数开始。只看到一个HEX色值，又无法判断光谱形状和结果来源。项目要解决的是这一段工作流：快速提出候选，让用户看到参数、光谱和色差，并把结果带走继续复核。我们的需求分析来自设计流程与项目实践，当前没有把它包装成大规模用户调研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这张图来自已保存的真实离线界面。用户先选结构、材料、偏振和角度，再输入目标色并运行搜索。得到候选后，可以应用到预览页，继续查看光谱或导出数据。预览、逆设计、图案、映射、光谱共五个页面，围绕同一参数上下文工作。这里强调的是可用的软件流程。后面会单独说明候选的质量和参考数据，避免把“按钮运行成功”当作物理精度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.state/ui_previews/offline_smart_grid_verified_20261006.png</a:t>
            </a:r>
          </a:p>
          <a:p xmlns:a="http://schemas.openxmlformats.org/drawingml/2006/main">
            <a:r>
              <a:t>.state/offline_real_app_flows_final_20261006.json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系统分为界面、计算路由、颜色表达和结果导出几个部分。路由首先检查结构、材料、衬底以及入射条件，再决定使用注册代理模型、解析近似或腔体TMM。每个结果带有模型版本和适用范围。修改参数后，旧候选和旧分析不能继续冒充新条件下的结果。资源不匹配时，只有独立实现且明确标注的基线路线可以回落，否则就返回不可用。这样把能力边界落实到程序行为，而不是只在文档里写一行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app.py</a:t>
            </a:r>
          </a:p>
          <a:p xmlns:a="http://schemas.openxmlformats.org/drawingml/2006/main">
            <a:r>
              <a:t>ui_forward_routes.py</a:t>
            </a:r>
          </a:p>
          <a:p xmlns:a="http://schemas.openxmlformats.org/drawingml/2006/main">
            <a:r>
              <a:t>ui_inverse_contracts.py</a:t>
            </a:r>
          </a:p>
          <a:p xmlns:a="http://schemas.openxmlformats.org/drawingml/2006/main">
            <a:r>
              <a:t>ui_model_resources.py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AI部分采用残差多层感知机ResMLP。七个输入包括直径、高度、周期、入射角，以及偏振、材料和衬底编码，输出为380到780纳米的81点反射光谱。典型实现使用256维隐藏层和4个残差块，运行时按实际权重确认。ONNX承担CPU前向推理，PyTorch支持梯度搜索，部分路线对多个注册模型取均值。搜索在预测光谱上寻找候选。现有代理来自历史训练资源，早期求解器与背景口径存在已记录风险，绝对物理精度尚未按修复后的求解器重新验证。新审核参考库与它分开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torch_model.py:_RCWA_ResMLP</a:t>
            </a:r>
          </a:p>
          <a:p xmlns:a="http://schemas.openxmlformats.org/drawingml/2006/main">
            <a:r>
              <a:t>ml_module.py:_get_rcwa_sessions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</a:t>
            </a:r>
          </a:p>
          <a:p xmlns:a="http://schemas.openxmlformats.org/drawingml/2006/main">
            <a:r>
              <a:t>智能网格采用两阶段搜索。第一阶段在图中尺寸范围生成8乘8乘8网格，排除周期小于1.2倍直径的结构，再按CIEDE2000色差保留三个种子。第二阶段在每个种子附近采用正负8纳米的三档偏移，生成3乘3乘3邻域。最后排序、去重，并对舍入后的参数重新计算颜色。512加81表示过滤前采样位置上限，实际评估还受几何过滤与复算影响。这种方式把搜索范围和排序依据落实到程序中，但没有全局最优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ml_module.py:smart_grid_search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这组结果来自10月6日保存的真实候选JSON。目标为浅蓝色80C8FF，条件是TiO2、SiO2、单柱、TE和零度。第一名的直径350、高度511.5、周期484.9纳米，预测颜色为6C8895，色差约21.67，和目标仍有明显差距。软件完成了搜索、排序、应用和导出，同时把当前候选质量展示出来。这条案例验证的是工作流，不是高精度颜色匹配。用户还可以比较其他条件，候选在制造之前仍需要统一物理口径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.state/offline_flow_smart_20261006.json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下面是独立的审核参考记录，和上一页代理候选不是同一条结果。记录编号4，几何参数140、281、407纳米，条件是TiO2、SiO2、空气背景、p偏振、零度入射。图中绘出原始81个反射率点，显示颜色约为242D49。这条记录的最大R加T减1误差约为3.67乘10的负13次方。它证明该条数据的守恒和颜色转换能复核，但不代表nG151和Nxy256已经完成所有分辨率的收敛验证，也不代表代理模型在这个记录上有同样的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competition/tio2_air_reference_records_v1.jsonl</a:t>
            </a:r>
          </a:p>
          <a:p xmlns:a="http://schemas.openxmlformats.org/drawingml/2006/main">
            <a:r>
              <a:t>competition/tio2_air_day_audit_20260930.json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颜色显示使用统一的色度学转换。反射光谱结合D65光源和CIE1931二度配色函数得到XYZ，再得到色度坐标和sRGB显示颜色，候选用CIEDE2000排序。右侧是真实交互页的CIE图，这里是TE路线的界面示例，不与前面的p偏振参考记录混用。21088条参考数据的独立颜色复算中，最大sRGB分量差约1.47乘10的负8次方。这个数字是存储颜色和复算颜色的数值一致性，不是目标色差，也不是实验精度。显示器、光源与制造后的器件仍可能带来额外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color_utils.py</a:t>
            </a:r>
          </a:p>
          <a:p xmlns:a="http://schemas.openxmlformats.org/drawingml/2006/main">
            <a:r>
              <a:t>competition/tio2_air_day_color_audit_20260930.json</a:t>
            </a:r>
          </a:p>
          <a:p xmlns:a="http://schemas.openxmlformats.org/drawingml/2006/main">
            <a:r>
              <a:t>output/playwright/main8503-spectrum-1440.png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图案功能把输入图像映射为结构参数阵列。右侧是保存的本地功能检查截图，使用一个4乘3像素测试图，能够生成输入和映射结果。当前这条路线采用精确注册的单柱解析颜色库，在Lab空间做近邻匹配，和前面神经网络的两阶段搜索独立。它可以导出PNG映射图、CSV参数表和JSON上下文信息。图案颜色没有在此承诺完全复原，也没有通过制造工艺验证，所以我们把输出定位为参数数据，不写成可直接交付电子束曝光的制造版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.state/ui_previews/offline_light_pattern_verified_20261006.png</a:t>
            </a:r>
          </a:p>
          <a:p xmlns:a="http://schemas.openxmlformats.org/drawingml/2006/main">
            <a:r>
              <a:t>ui_pattern_contracts.py</a:t>
            </a:r>
          </a:p>
          <a:p xmlns:a="http://schemas.openxmlformats.org/drawingml/2006/main">
            <a:r>
              <a:t>output/playwright/main8503-final-exports-20260824/metadata.json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测试分为两层。第一层是参考数据审核，共21088条记录、21083组独立几何，五组重复输出相同，无字段、形状、有限值、几何和守恒检查异常。最大点级守恒误差约1.79乘10的负7次方。第二层是软件运行检查，10月6日的存档包含27项实际运行检查和19项真实应用流程检查，覆盖模型资源、搜索应用、导出、参考查询、主题和分析页面。它们使用实际模型，没有伪造返回值。测试证明已记录版本的软件链路能执行，颜色转换一致，不能外推为全材料、全条件的模型准确率，也不能代替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competition/tio2_air_day_audit_20260930.json</a:t>
            </a:r>
          </a:p>
          <a:p xmlns:a="http://schemas.openxmlformats.org/drawingml/2006/main">
            <a:r>
              <a:t>competition/tio2_air_day_color_audit_20260930.json</a:t>
            </a:r>
          </a:p>
          <a:p xmlns:a="http://schemas.openxmlformats.org/drawingml/2006/main">
            <a:r>
              <a:t>.state/offline_feature_runtime_audit_final_20261006.json</a:t>
            </a:r>
          </a:p>
          <a:p xmlns:a="http://schemas.openxmlformats.org/drawingml/2006/main">
            <a:r>
              <a:t>.state/offline_real_app_flows_final_20261006.json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与常见的脚本工作流和只返回单个预测值的工具相比，本项目把候选、光谱、色度和导出连到同一上下文中。表格比较的是工作流形态，不是没有测过的竞品速度。贡献主要有两方面：第一，把代理预测接入有几何约束、色差排序和候选复算的搜索流程。第二，把模型资源、结果上下文和导出文件绑定起来，避免换了材料或偏振却继续展示旧结果。ResMLP、RCWA和CIEDE2000本身是已有方法，我们不声称发明这些算法。项目创新集中在AI软件的组合实现、可追溯性和使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ui_inverse_contracts.py</a:t>
            </a:r>
          </a:p>
          <a:p xmlns:a="http://schemas.openxmlformats.org/drawingml/2006/main">
            <a:r>
              <a:t>ml_module.py</a:t>
            </a:r>
          </a:p>
          <a:p xmlns:a="http://schemas.openxmlformats.org/drawingml/2006/main">
            <a:r>
              <a:t>ui_analysis_snapshots.py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近期最合适的应用是光学课程演示和早期方案筛选。在教学中，学生改变几何参数，观察光谱与颜色如何关联；在研究前期，使用候选表和导出文件减少跨脚本整理。推广计划先提供离线包和示例教程，再做小规模任务试用，记录用户完成时间、失败原因与反馈。结构色标识和微纳图案是后续方向，需要补齐制造约束、统一物理复核与实验样品。我们目前没有用户试点、收入或专利数据，因此只介绍可行路径，不把应用潜力写成已经完成的商业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competition/11_本地离线演示说明.md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</a:t>
            </a:r>
          </a:p>
          <a:p xmlns:a="http://schemas.openxmlformats.org/drawingml/2006/main">
            <a:r>
              <a:t>总结来说，项目已把目标色搜索、光谱色度分析、图案映射和导出做成了本地软件，并用现有参考审计与真实功能记录支撑它。当前的不足是模型覆盖和目标色匹配仍有限，双柱ONNX与完整制造验证也没有补齐。下一步按统一口径扩充可审核资源，开展任务试用，再推动物理与实验闭环。我们希望这套软件先成为早期设计者能使用、能检查、能继续复核的工具。谢谢各位老师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competition/14_离线功能核对.md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47b7c576544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27bbb3c7443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6fbd0bbf94e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df3e9e4e141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17ebd69384c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6f4055cf6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BFAB40-1674-4771-894C-1E99E139C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7189C9-6105-4120-B645-0B9EE6885C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AEEA20-1B4E-4A10-A41A-21AB71005A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AE5D48-FFDF-4CB0-B069-7D64FAE3F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A4B841-B398-4E44-BE09-1D48D1CE9A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09AB30-8253-4098-8630-49A9F8652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6C63B-61D6-4C5C-ABAD-AB4149F59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A8A6F7-A21C-4C38-B652-8E71328523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65782C-C021-4570-A5B9-9B052B994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1C61A4-2F79-4A4D-8AAB-4880CD1DDA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a2c9fa16a4a08" /><Relationship Type="http://schemas.openxmlformats.org/officeDocument/2006/relationships/slideLayout" Target="/ppt/slideLayouts/slideLayout1.xml" Id="Rbdb979bd4e2d4ad8" /><Relationship Type="http://schemas.openxmlformats.org/officeDocument/2006/relationships/slideLayout" Target="/ppt/slideLayouts/slideLayout2.xml" Id="Rf95e1b81dbc84b6b" /><Relationship Type="http://schemas.openxmlformats.org/officeDocument/2006/relationships/slideLayout" Target="/ppt/slideLayouts/slideLayout3.xml" Id="Rcac2682ad3e94761" /><Relationship Type="http://schemas.openxmlformats.org/officeDocument/2006/relationships/slideLayout" Target="/ppt/slideLayouts/slideLayout4.xml" Id="R6cb5e9162012459f" /><Relationship Type="http://schemas.openxmlformats.org/officeDocument/2006/relationships/slideLayout" Target="/ppt/slideLayouts/slideLayout5.xml" Id="Re77ae2bd1a1f46fe" /><Relationship Type="http://schemas.openxmlformats.org/officeDocument/2006/relationships/slideLayout" Target="/ppt/slideLayouts/slideLayout6.xml" Id="R8186ecccb4dd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979bd4e2d4ad8"/>
    <p:sldLayoutId xmlns:r="http://schemas.openxmlformats.org/officeDocument/2006/relationships" id="2147483650" r:id="Rf95e1b81dbc84b6b"/>
    <p:sldLayoutId xmlns:r="http://schemas.openxmlformats.org/officeDocument/2006/relationships" id="2147483651" r:id="Rcac2682ad3e94761"/>
    <p:sldLayoutId xmlns:r="http://schemas.openxmlformats.org/officeDocument/2006/relationships" id="2147483652" r:id="R6cb5e9162012459f"/>
    <p:sldLayoutId xmlns:r="http://schemas.openxmlformats.org/officeDocument/2006/relationships" id="2147483653" r:id="Re77ae2bd1a1f46fe"/>
    <p:sldLayoutId xmlns:r="http://schemas.openxmlformats.org/officeDocument/2006/relationships" id="2147483654" r:id="R8186ecccb4dd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a8e9e52c84c59" /><Relationship Type="http://schemas.openxmlformats.org/officeDocument/2006/relationships/image" Target="/ppt/media/image.png" Id="R7d0d5475386b485e" /><Relationship Type="http://schemas.openxmlformats.org/officeDocument/2006/relationships/notesSlide" Target="/ppt/notesSlides/notesSlide1.xml" Id="R5c793a1f8e0547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4cca4bbff4f65" /><Relationship Type="http://schemas.openxmlformats.org/officeDocument/2006/relationships/notesSlide" Target="/ppt/notesSlides/notesSlide2.xml" Id="Rd5a956e2fc09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cd7d770554294" /><Relationship Type="http://schemas.openxmlformats.org/officeDocument/2006/relationships/notesSlide" Target="/ppt/notesSlides/notesSlide3.xml" Id="R71bf25911f7a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716df67ec4231" /><Relationship Type="http://schemas.openxmlformats.org/officeDocument/2006/relationships/image" Target="/ppt/media/image2.png" Id="Ra1bdbda19fc440e8" /><Relationship Type="http://schemas.openxmlformats.org/officeDocument/2006/relationships/notesSlide" Target="/ppt/notesSlides/notesSlide4.xml" Id="Rd65e2bf151fa41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fb20873144cee" /><Relationship Type="http://schemas.openxmlformats.org/officeDocument/2006/relationships/notesSlide" Target="/ppt/notesSlides/notesSlide5.xml" Id="Rffa29d4dc9f549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aa97e41074164" /><Relationship Type="http://schemas.openxmlformats.org/officeDocument/2006/relationships/notesSlide" Target="/ppt/notesSlides/notesSlide6.xml" Id="R202320dad17945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7ea18bf0141f6" /><Relationship Type="http://schemas.openxmlformats.org/officeDocument/2006/relationships/notesSlide" Target="/ppt/notesSlides/notesSlide7.xml" Id="R5319dc4fac2f4b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325d1b2b347df" /><Relationship Type="http://schemas.openxmlformats.org/officeDocument/2006/relationships/notesSlide" Target="/ppt/notesSlides/notesSlide8.xml" Id="Rc4f92b1065a443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a7ea974c24eaf" /><Relationship Type="http://schemas.openxmlformats.org/officeDocument/2006/relationships/chart" Target="/ppt/slides/charts/chart1.xml" Id="R2dc63f9633fd4b96" /><Relationship Type="http://schemas.openxmlformats.org/officeDocument/2006/relationships/notesSlide" Target="/ppt/notesSlides/notesSlide9.xml" Id="R7c68351d597b4d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5573b275944f3" /><Relationship Type="http://schemas.openxmlformats.org/officeDocument/2006/relationships/image" Target="/ppt/media/image3.png" Id="R569458f71b4a49f5" /><Relationship Type="http://schemas.openxmlformats.org/officeDocument/2006/relationships/notesSlide" Target="/ppt/notesSlides/notesSlide10.xml" Id="Ra6bb2fe6663144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9e0592ade4f58" /><Relationship Type="http://schemas.openxmlformats.org/officeDocument/2006/relationships/image" Target="/ppt/media/image4.png" Id="R3b07a45226bc4a55" /><Relationship Type="http://schemas.openxmlformats.org/officeDocument/2006/relationships/notesSlide" Target="/ppt/notesSlides/notesSlide11.xml" Id="R9fb578579cb946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32225a24c4dca" /><Relationship Type="http://schemas.openxmlformats.org/officeDocument/2006/relationships/notesSlide" Target="/ppt/notesSlides/notesSlide12.xml" Id="R602d2fa77b7345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be5b94060479f" /><Relationship Type="http://schemas.openxmlformats.org/officeDocument/2006/relationships/notesSlide" Target="/ppt/notesSlides/notesSlide13.xml" Id="R4861d24008fe4d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d8e2736154deb" /><Relationship Type="http://schemas.openxmlformats.org/officeDocument/2006/relationships/notesSlide" Target="/ppt/notesSlides/notesSlide14.xml" Id="R30b8ed16590c40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d173f5dd24b1c" /><Relationship Type="http://schemas.openxmlformats.org/officeDocument/2006/relationships/notesSlide" Target="/ppt/notesSlides/notesSlide15.xml" Id="R72927a2a2e4348a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反射率 R</c:v>
          </c:tx>
          <c:spPr>
            <a:ln xmlns:a="http://schemas.openxmlformats.org/drawingml/2006/main" w="23813">
              <a:solidFill>
                <a:srgbClr val="56D5E9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380</c:v>
                </c:pt>
                <c:pt idx="1">
                  <c:v>385</c:v>
                </c:pt>
                <c:pt idx="2">
                  <c:v>390</c:v>
                </c:pt>
                <c:pt idx="3">
                  <c:v>395</c:v>
                </c:pt>
                <c:pt idx="4">
                  <c:v>400</c:v>
                </c:pt>
                <c:pt idx="5">
                  <c:v>405</c:v>
                </c:pt>
                <c:pt idx="6">
                  <c:v>410</c:v>
                </c:pt>
                <c:pt idx="7">
                  <c:v>415</c:v>
                </c:pt>
                <c:pt idx="8">
                  <c:v>420</c:v>
                </c:pt>
                <c:pt idx="9">
                  <c:v>425</c:v>
                </c:pt>
                <c:pt idx="10">
                  <c:v>430</c:v>
                </c:pt>
                <c:pt idx="11">
                  <c:v>435</c:v>
                </c:pt>
                <c:pt idx="12">
                  <c:v>440</c:v>
                </c:pt>
                <c:pt idx="13">
                  <c:v>445</c:v>
                </c:pt>
                <c:pt idx="14">
                  <c:v>450</c:v>
                </c:pt>
                <c:pt idx="15">
                  <c:v>455</c:v>
                </c:pt>
                <c:pt idx="16">
                  <c:v>460</c:v>
                </c:pt>
                <c:pt idx="17">
                  <c:v>465</c:v>
                </c:pt>
                <c:pt idx="18">
                  <c:v>470</c:v>
                </c:pt>
                <c:pt idx="19">
                  <c:v>475</c:v>
                </c:pt>
                <c:pt idx="20">
                  <c:v>480</c:v>
                </c:pt>
                <c:pt idx="21">
                  <c:v>485</c:v>
                </c:pt>
                <c:pt idx="22">
                  <c:v>490</c:v>
                </c:pt>
                <c:pt idx="23">
                  <c:v>495</c:v>
                </c:pt>
                <c:pt idx="24">
                  <c:v>500</c:v>
                </c:pt>
                <c:pt idx="25">
                  <c:v>505</c:v>
                </c:pt>
                <c:pt idx="26">
                  <c:v>510</c:v>
                </c:pt>
                <c:pt idx="27">
                  <c:v>515</c:v>
                </c:pt>
                <c:pt idx="28">
                  <c:v>520</c:v>
                </c:pt>
                <c:pt idx="29">
                  <c:v>525</c:v>
                </c:pt>
                <c:pt idx="30">
                  <c:v>530</c:v>
                </c:pt>
                <c:pt idx="31">
                  <c:v>535</c:v>
                </c:pt>
                <c:pt idx="32">
                  <c:v>540</c:v>
                </c:pt>
                <c:pt idx="33">
                  <c:v>545</c:v>
                </c:pt>
                <c:pt idx="34">
                  <c:v>550</c:v>
                </c:pt>
                <c:pt idx="35">
                  <c:v>555</c:v>
                </c:pt>
                <c:pt idx="36">
                  <c:v>560</c:v>
                </c:pt>
                <c:pt idx="37">
                  <c:v>565</c:v>
                </c:pt>
                <c:pt idx="38">
                  <c:v>570</c:v>
                </c:pt>
                <c:pt idx="39">
                  <c:v>575</c:v>
                </c:pt>
                <c:pt idx="40">
                  <c:v>580</c:v>
                </c:pt>
                <c:pt idx="41">
                  <c:v>585</c:v>
                </c:pt>
                <c:pt idx="42">
                  <c:v>590</c:v>
                </c:pt>
                <c:pt idx="43">
                  <c:v>595</c:v>
                </c:pt>
                <c:pt idx="44">
                  <c:v>600</c:v>
                </c:pt>
                <c:pt idx="45">
                  <c:v>605</c:v>
                </c:pt>
                <c:pt idx="46">
                  <c:v>610</c:v>
                </c:pt>
                <c:pt idx="47">
                  <c:v>615</c:v>
                </c:pt>
                <c:pt idx="48">
                  <c:v>620</c:v>
                </c:pt>
                <c:pt idx="49">
                  <c:v>625</c:v>
                </c:pt>
                <c:pt idx="50">
                  <c:v>630</c:v>
                </c:pt>
                <c:pt idx="51">
                  <c:v>635</c:v>
                </c:pt>
                <c:pt idx="52">
                  <c:v>640</c:v>
                </c:pt>
                <c:pt idx="53">
                  <c:v>645</c:v>
                </c:pt>
                <c:pt idx="54">
                  <c:v>650</c:v>
                </c:pt>
                <c:pt idx="55">
                  <c:v>655</c:v>
                </c:pt>
                <c:pt idx="56">
                  <c:v>660</c:v>
                </c:pt>
                <c:pt idx="57">
                  <c:v>665</c:v>
                </c:pt>
                <c:pt idx="58">
                  <c:v>670</c:v>
                </c:pt>
                <c:pt idx="59">
                  <c:v>675</c:v>
                </c:pt>
                <c:pt idx="60">
                  <c:v>680</c:v>
                </c:pt>
                <c:pt idx="61">
                  <c:v>685</c:v>
                </c:pt>
                <c:pt idx="62">
                  <c:v>690</c:v>
                </c:pt>
                <c:pt idx="63">
                  <c:v>695</c:v>
                </c:pt>
                <c:pt idx="64">
                  <c:v>700</c:v>
                </c:pt>
                <c:pt idx="65">
                  <c:v>705</c:v>
                </c:pt>
                <c:pt idx="66">
                  <c:v>710</c:v>
                </c:pt>
                <c:pt idx="67">
                  <c:v>715</c:v>
                </c:pt>
                <c:pt idx="68">
                  <c:v>720</c:v>
                </c:pt>
                <c:pt idx="69">
                  <c:v>725</c:v>
                </c:pt>
                <c:pt idx="70">
                  <c:v>730</c:v>
                </c:pt>
                <c:pt idx="71">
                  <c:v>735</c:v>
                </c:pt>
                <c:pt idx="72">
                  <c:v>740</c:v>
                </c:pt>
                <c:pt idx="73">
                  <c:v>745</c:v>
                </c:pt>
                <c:pt idx="74">
                  <c:v>750</c:v>
                </c:pt>
                <c:pt idx="75">
                  <c:v>755</c:v>
                </c:pt>
                <c:pt idx="76">
                  <c:v>760</c:v>
                </c:pt>
                <c:pt idx="77">
                  <c:v>765</c:v>
                </c:pt>
                <c:pt idx="78">
                  <c:v>770</c:v>
                </c:pt>
                <c:pt idx="79">
                  <c:v>775</c:v>
                </c:pt>
                <c:pt idx="80">
                  <c:v>780</c:v>
                </c:pt>
              </c:numCache>
            </c:numRef>
          </c:xVal>
          <c:yVal>
            <c:numRef>
              <c:f>'Chart Data'!$B$2:$B$82</c:f>
              <c:numCache>
                <c:formatCode>0.0</c:formatCode>
                <c:ptCount val="81"/>
                <c:pt idx="0">
                  <c:v>0.093146</c:v>
                </c:pt>
                <c:pt idx="1">
                  <c:v>0.10047</c:v>
                </c:pt>
                <c:pt idx="2">
                  <c:v>0.103475</c:v>
                </c:pt>
                <c:pt idx="3">
                  <c:v>0.101697</c:v>
                </c:pt>
                <c:pt idx="4">
                  <c:v>0.094213</c:v>
                </c:pt>
                <c:pt idx="5">
                  <c:v>0.076447</c:v>
                </c:pt>
                <c:pt idx="6">
                  <c:v>0.056793</c:v>
                </c:pt>
                <c:pt idx="7">
                  <c:v>0.058098</c:v>
                </c:pt>
                <c:pt idx="8">
                  <c:v>0.049751</c:v>
                </c:pt>
                <c:pt idx="9">
                  <c:v>0.037434</c:v>
                </c:pt>
                <c:pt idx="10">
                  <c:v>0.033399</c:v>
                </c:pt>
                <c:pt idx="11">
                  <c:v>0.031508</c:v>
                </c:pt>
                <c:pt idx="12">
                  <c:v>0.031821</c:v>
                </c:pt>
                <c:pt idx="13">
                  <c:v>0.034559</c:v>
                </c:pt>
                <c:pt idx="14">
                  <c:v>0.0404</c:v>
                </c:pt>
                <c:pt idx="15">
                  <c:v>0.049975</c:v>
                </c:pt>
                <c:pt idx="16">
                  <c:v>0.064005</c:v>
                </c:pt>
                <c:pt idx="17">
                  <c:v>0.083104</c:v>
                </c:pt>
                <c:pt idx="18">
                  <c:v>0.106293</c:v>
                </c:pt>
                <c:pt idx="19">
                  <c:v>0.127271</c:v>
                </c:pt>
                <c:pt idx="20">
                  <c:v>0.132881</c:v>
                </c:pt>
                <c:pt idx="21">
                  <c:v>0.116262</c:v>
                </c:pt>
                <c:pt idx="22">
                  <c:v>0.088835</c:v>
                </c:pt>
                <c:pt idx="23">
                  <c:v>0.064401</c:v>
                </c:pt>
                <c:pt idx="24">
                  <c:v>0.047228</c:v>
                </c:pt>
                <c:pt idx="25">
                  <c:v>0.036206</c:v>
                </c:pt>
                <c:pt idx="26">
                  <c:v>0.029348</c:v>
                </c:pt>
                <c:pt idx="27">
                  <c:v>0.025134</c:v>
                </c:pt>
                <c:pt idx="28">
                  <c:v>0.022577</c:v>
                </c:pt>
                <c:pt idx="29">
                  <c:v>0.021066</c:v>
                </c:pt>
                <c:pt idx="30">
                  <c:v>0.020221</c:v>
                </c:pt>
                <c:pt idx="31">
                  <c:v>0.019802</c:v>
                </c:pt>
                <c:pt idx="32">
                  <c:v>0.019657</c:v>
                </c:pt>
                <c:pt idx="33">
                  <c:v>0.019685</c:v>
                </c:pt>
                <c:pt idx="34">
                  <c:v>0.019817</c:v>
                </c:pt>
                <c:pt idx="35">
                  <c:v>0.020008</c:v>
                </c:pt>
                <c:pt idx="36">
                  <c:v>0.020226</c:v>
                </c:pt>
                <c:pt idx="37">
                  <c:v>0.020448</c:v>
                </c:pt>
                <c:pt idx="38">
                  <c:v>0.020658</c:v>
                </c:pt>
                <c:pt idx="39">
                  <c:v>0.02084</c:v>
                </c:pt>
                <c:pt idx="40">
                  <c:v>0.020984</c:v>
                </c:pt>
                <c:pt idx="41">
                  <c:v>0.021076</c:v>
                </c:pt>
                <c:pt idx="42">
                  <c:v>0.02109</c:v>
                </c:pt>
                <c:pt idx="43">
                  <c:v>0.020952</c:v>
                </c:pt>
                <c:pt idx="44">
                  <c:v>0.023018</c:v>
                </c:pt>
                <c:pt idx="45">
                  <c:v>0.025001</c:v>
                </c:pt>
                <c:pt idx="46">
                  <c:v>0.02639</c:v>
                </c:pt>
                <c:pt idx="47">
                  <c:v>0.02749</c:v>
                </c:pt>
                <c:pt idx="48">
                  <c:v>0.028394</c:v>
                </c:pt>
                <c:pt idx="49">
                  <c:v>0.029148</c:v>
                </c:pt>
                <c:pt idx="50">
                  <c:v>0.029779</c:v>
                </c:pt>
                <c:pt idx="51">
                  <c:v>0.030306</c:v>
                </c:pt>
                <c:pt idx="52">
                  <c:v>0.030742</c:v>
                </c:pt>
                <c:pt idx="53">
                  <c:v>0.031099</c:v>
                </c:pt>
                <c:pt idx="54">
                  <c:v>0.031384</c:v>
                </c:pt>
                <c:pt idx="55">
                  <c:v>0.031606</c:v>
                </c:pt>
                <c:pt idx="56">
                  <c:v>0.03177</c:v>
                </c:pt>
                <c:pt idx="57">
                  <c:v>0.031881</c:v>
                </c:pt>
                <c:pt idx="58">
                  <c:v>0.031945</c:v>
                </c:pt>
                <c:pt idx="59">
                  <c:v>0.031966</c:v>
                </c:pt>
                <c:pt idx="60">
                  <c:v>0.031947</c:v>
                </c:pt>
                <c:pt idx="61">
                  <c:v>0.031892</c:v>
                </c:pt>
                <c:pt idx="62">
                  <c:v>0.031805</c:v>
                </c:pt>
                <c:pt idx="63">
                  <c:v>0.031688</c:v>
                </c:pt>
                <c:pt idx="64">
                  <c:v>0.031545</c:v>
                </c:pt>
                <c:pt idx="65">
                  <c:v>0.031376</c:v>
                </c:pt>
                <c:pt idx="66">
                  <c:v>0.031186</c:v>
                </c:pt>
                <c:pt idx="67">
                  <c:v>0.030975</c:v>
                </c:pt>
                <c:pt idx="68">
                  <c:v>0.030746</c:v>
                </c:pt>
                <c:pt idx="69">
                  <c:v>0.030501</c:v>
                </c:pt>
                <c:pt idx="70">
                  <c:v>0.030241</c:v>
                </c:pt>
                <c:pt idx="71">
                  <c:v>0.029968</c:v>
                </c:pt>
                <c:pt idx="72">
                  <c:v>0.029684</c:v>
                </c:pt>
                <c:pt idx="73">
                  <c:v>0.029389</c:v>
                </c:pt>
                <c:pt idx="74">
                  <c:v>0.029086</c:v>
                </c:pt>
                <c:pt idx="75">
                  <c:v>0.028774</c:v>
                </c:pt>
                <c:pt idx="76">
                  <c:v>0.028456</c:v>
                </c:pt>
                <c:pt idx="77">
                  <c:v>0.028133</c:v>
                </c:pt>
                <c:pt idx="78">
                  <c:v>0.027804</c:v>
                </c:pt>
                <c:pt idx="79">
                  <c:v>0.027472</c:v>
                </c:pt>
                <c:pt idx="80">
                  <c:v>0.027137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9425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反射率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780"/>
          <c:min val="38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波长 / 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9425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80"/>
      </c:valAx>
      <c:spPr>
        <a:solidFill xmlns:a="http://schemas.openxmlformats.org/drawingml/2006/main">
          <a:srgbClr val="0C111A"/>
        </a:solidFill>
      </c:spPr>
    </c:plotArea>
    <c:plotVisOnly val="1"/>
  </c:chart>
  <c:spPr>
    <a:solidFill xmlns:a="http://schemas.openxmlformats.org/drawingml/2006/main">
      <a:srgbClr val="0C111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3A7F6-EA3B-4EF3-A65B-1F2C91E5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AI 超表面</a:t>
            </a:r>
          </a:p>
          <a:p xmlns:a="http://schemas.openxmlformats.org/drawingml/2006/main">
            <a: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结构色智能设计系统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A058A-D91D-4217-B977-AA3049D8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43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面向微纳光学早期设计的 AI 软件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083F8-3FC9-4EF7-AD34-D6972061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0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目标颜色  /  候选结构  /  光谱分析  /  结果导出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A7000-EFDA-4C47-81D7-025A11A544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d5475386b485e"/>
          <a:stretch xmlns:a="http://schemas.openxmlformats.org/drawingml/2006/main"/>
        </p:blipFill>
        <p:spPr>
          <a:xfrm xmlns:a="http://schemas.openxmlformats.org/drawingml/2006/main">
            <a:off x="609600" y="3724311"/>
            <a:ext cx="10972800" cy="17906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D8C95-9006-461C-BBC2-735682DB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53100"/>
            <a:ext cx="3848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404 Not Found队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845AB-E003-4DB7-AB63-F6D3E09F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819775"/>
            <a:ext cx="6924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算法创新赛 · AI+软件创新   第 4 答辩室 · 序号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4492D-141F-439E-B4BE-C6A68871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930913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32100-2040-445B-A5D2-C625140C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团队成员与分工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1652F-BF4C-49F0-BCE8-F845420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404 Not Found队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E6D2D-FFAA-4C0D-8AAF-8A4625156DDA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乔安琪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项目负责人、核心算法、系统开发与主讲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陈雍杰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UI设计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郭千弘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PPT制作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B0DBD-5CF2-4B7D-B4EA-4F051B32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991333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28906-8CD1-42A3-A195-30C45EC1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背景与用户需求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1F032-93E1-4143-A3F2-4A1E91D0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目标用户：光学教学、研究中的早期方案筛选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87E31-9AC7-40D6-BEE6-6AEA78D8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用户先知道颜色，未必知道结构参数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7A67C-A7D8-4AF8-8030-B17A278E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输入需求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2FA4B-013C-4247-9CD6-39FEE105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目标色与材料、入射条件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A3C28-26DF-4BF6-A0DF-CBE98C85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FF8F3-CE95-46F5-A8EA-3E2BC76C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设计判断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22D65-F7DE-48D5-BC7F-859942A9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67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/ H / P 候选、光谱与色差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2DFE3-9336-48F4-9A6F-D747E4BC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01CCD-B626-468B-B843-44792F8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继续使用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39C3A-870B-4D1B-AE8C-1C34347B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96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文件导出与后续物理复核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2C1E9-283C-445C-AC77-8BDD1E4D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4B4AF-C71C-4D6F-895D-67210DC7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当前定位：快速探索与候选筛选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70DE1-D167-4E96-B46E-7691A11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890409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1F788-BD8C-41CA-BBF6-2060AC3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实际软件流程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6B922-7AAD-4372-B9E6-FB4E6C8E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输入目标色，生成候选，再应用、分析和导出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2F0D-BD2A-4E18-93EE-9E3E55957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dbda19fc440e8"/>
          <a:stretch xmlns:a="http://schemas.openxmlformats.org/drawingml/2006/main"/>
        </p:blipFill>
        <p:spPr>
          <a:xfrm xmlns:a="http://schemas.openxmlformats.org/drawingml/2006/main">
            <a:off x="1600746" y="1724025"/>
            <a:ext cx="6266358" cy="44481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DA15B-BA03-4020-899F-DC9EB78D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五个页面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D329E-B094-4DD7-987C-3CBF444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2333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预览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逆设计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图案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光谱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C32B-2B01-475D-88ED-D937CDD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来源：2026-10-06 离线界面与应用流程记录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2EB8A-0841-4CCB-AA03-5C1B9B77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718528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71865-D68C-4011-B7F2-2B36D68C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系统架构与运行环境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266D4-9998-471B-90F4-6B05EE15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Streamlit 界面连接本地模型、颜色计算和文件导出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12C4B-DF97-49D7-AA18-70DBE62D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0F1A3-6845-40CF-A229-5A2804F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E9127-47F3-4439-9EA9-DB527DB9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结构与材料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目标色与入射条件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92A3C-2189-49BE-AD10-289B028B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572F0-C247-4E75-B541-D5BBF8B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上下文检查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8C0E8-ED89-4848-AE4A-1C57D00C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资源与数据形状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CB14E-576C-4DF5-ADC6-8463ABE6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188B1-A072-4B4A-8AA2-1913DF7A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计算路由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23CB7-1C4B-4185-8F9A-2975FD94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注册代理模型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解析近似 / FP-TMM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4F3F5-4F33-428F-9B48-AEAD030E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A691D-3381-47D6-AAC3-FCABD2C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结果表达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C7A58-F6F5-4B3D-AEB2-3C155DF9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光谱与颜色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CSV / JSON / 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5C862-24F7-4C17-93B8-3B609058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CFBF9-2BB0-4D28-9A3F-D6A639BB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结果随上下文保存，参数变化后旧结果失效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4CA0D-FDCD-4412-8255-B2E543E4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Python · NumPy · PyTorch · ONNX Runtime CPU</a:t>
            </a:r>
          </a:p>
          <a:p xmlns:a="http://schemas.openxmlformats.org/drawingml/2006/main">
            <a: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本地准备好依赖后可断网使用，云端已有部署版本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17BE1-9C20-4964-9727-E7B0588D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295030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27A24-07FF-4A22-811A-8278DE78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核心代理模型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C3EB9-A73E-4908-B010-5DA535F7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ResMLP 学习几何参数与反射光谱的关系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80953-1955-4F00-92DF-06181BEB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7 维输入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E7E65-F413-4643-BC81-193B6EF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D、H、P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入射角、偏振编码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材料编码、衬底编码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C4375-3BC0-4C41-8876-875C74D5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残差多层感知机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C2B61-FCB9-44E5-B547-515F7BB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09875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典型实现：256 维隐藏层，4 个残差块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部分路线按注册模型取均值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6FF90-6DC2-4504-96C2-128A748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81450"/>
            <a:ext cx="6429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81 点反射光谱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42320-1FF1-48E6-A2B0-590386C5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638675"/>
            <a:ext cx="642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380–780 nm，间隔 5 nm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FB28C-D03A-4789-8459-A97A7F3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ONNX 前向推理与 PyTorch 梯度路线使用对应资源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F4056-D837-4364-850A-0ADA779A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历史代理用于流程与候选探索，绝对物理精度尚未按修复后求解器重新验证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98BF6-C3E2-4ED6-9E6E-32858FD5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773331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552C1-7193-4A3F-B473-0D6F7ED7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两阶段智能网格搜索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02744-F0F0-4B1D-87DD-97643E18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当前模型范围内的候选筛选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F00E4-BC26-45FB-9484-22904681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粗网格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BFD8-1808-4EBA-A1C9-AB0D41EF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8 × 8 ×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601A5-0901-4FCA-A76C-22D366E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先检查几何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85FA-2292-4EAF-9E16-F7EA54E9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种子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2067F-F1EF-41D6-998B-3A8C664A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Top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56D71-FF29-49F4-82C8-D5851249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按 ΔE00 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EF616-34EB-46C2-B2BD-91BECBA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局部细化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DD233-5723-400E-A8E8-81CE9F27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3 × 3 ×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D7244-368C-4990-8A26-48FC7AA8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每轴 ±8 nm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D6C3B-8CAE-4539-9D98-E770208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候选输出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A7271-0D02-40DC-8B75-5779A45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多样性检查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D0284-FFA3-4A1B-A0F9-A392EBD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舍入后复算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43C82-5E4E-4B04-B734-1D8AF60E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B16B5-7159-4126-8AD9-F50A192D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50–350 nm     H 80–600 nm     P 200–600 nm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55648-2E8F-4379-9E2C-748A687E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几何过滤：P ≥ 1.2D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6CF37-C71B-427E-A1ED-B9BB2CD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默认采样位置上限 512 + 81，最终候选另做复算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B4211-17EF-4AC4-8BBD-3100596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500867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BA0C4-03E3-4AE8-A63A-9A52169E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真实候选案例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09E48-8B24-4235-8765-1DFD490B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TiO₂ / SiO₂，单柱，TE，0°；2026-10-06 保存结果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A549A-D1B0-4972-875E-012CB0D4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790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C8FF"/>
          </a:solidFill>
          <a:ln xmlns:a="http://schemas.openxmlformats.org/drawingml/2006/main" w="4763">
            <a:solidFill>
              <a:srgbClr val="ADB8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D84F9-A873-4406-9E57-5D5CCB7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8573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目标色 #80C8FF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72155-1D20-4B16-A889-03BA658B9A6A}"/>
              </a:ext>
            </a:extLst>
          </p:cNvPr>
          <p:cNvGraphicFramePr/>
          <p:nvPr/>
        </p:nvGraphicFramePr>
        <p:xfrm>
          <a:off xmlns:a="http://schemas.openxmlformats.org/drawingml/2006/main" x="609600" y="26955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0600"/>
                <a:gridCol w="1743075"/>
                <a:gridCol w="1743075"/>
                <a:gridCol w="1743075"/>
                <a:gridCol w="2476500"/>
                <a:gridCol w="2276475"/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 sRGB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ΔE00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350.0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511.5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484.9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#6C8895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21.67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316.7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369.6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#7E8A95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21.80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301.5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369.6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#678095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23.01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3C0BC-18D9-4573-9D25-44480A5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目标色与当前候选仍有明显差距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B6A2E-BCC7-4CA1-8B42-1E1F4703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来源：offline_flow_smart_20261006.json；色差衡量模型显示颜色与目标色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710FE-89EE-4F70-83A5-037BA909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2451523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55B4F-9D80-4758-8710-2761D8AB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审核参考光谱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B61AD-12A7-4F1E-BD61-F07AD9BD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记录 #4；TiO₂ / SiO₂ / air，p 偏振，0°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ABF8737-D2BB-433E-B8B6-BBFEBB3B52AC}"/>
              </a:ext>
            </a:extLst>
          </p:cNvPr>
          <p:cNvGraphicFramePr/>
          <p:nvPr/>
        </p:nvGraphicFramePr>
        <p:xfrm>
          <a:off xmlns:a="http://schemas.openxmlformats.org/drawingml/2006/main" x="590550" y="1857375"/>
          <a:ext xmlns:a="http://schemas.openxmlformats.org/drawingml/2006/main" cx="765810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c63f9633fd4b9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05D04-33CE-45DC-80B1-0878D258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97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D / H /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065F8-5CFB-443F-BCDA-69A1BD86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384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140 / 281 / 407 nm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9BA31-B9A0-458A-8B7D-493AB325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781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D49"/>
          </a:solidFill>
          <a:ln xmlns:a="http://schemas.openxmlformats.org/drawingml/2006/main" w="4763">
            <a:solidFill>
              <a:srgbClr val="ADB8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8329B-8907-4F7E-9B4B-97C30995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43275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#242D49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3160C-1DE6-4338-9B3B-D1C07FE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05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最大 |R+T−1|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784DD-51D8-4DAA-AD94-3AC65BC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529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3.67×10⁻¹³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27EF0-7B3A-4D65-B8C3-522F90F6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81625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nG=151，Nxy=256</a:t>
            </a:r>
          </a:p>
          <a:p xmlns:a="http://schemas.openxmlformats.org/drawingml/2006/main">
            <a: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原始 81 点，5 nm 间隔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97E5B-B061-4FF8-9FF7-EADEDA4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守恒不等同于 RCWA 收敛；图表采用 81 点，R 保留 6 位小数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E1A4F-0675-4B85-8393-631AF92B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2101113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27D29-174F-41FA-B87A-C911FD28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颜色表达与色度复算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ACFA3-84E5-4BB4-92C6-76F15CC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反射光谱结合 D65 与 CIE 1931，生成显示颜色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4FAD0-424E-4166-8B85-2965C455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反射光谱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FDE65-93DB-448D-A701-9981D181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240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81 点 R(λ)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629A5-BF06-4F05-B0B6-3A9EF22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XYZ 与色度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59396-34E8-4802-85A7-2CB41DA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90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D65，CIE 1931 2°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94F81-FF46-4E76-9DC6-71D4E149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sRGB 显示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3B374-DB87-42A3-96A1-FB01F02D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576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矩阵变换与传递函数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52724-5539-4FBE-B304-F3CD6BB8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E9294-33D0-4AFA-ACEF-C035CC52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24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CIEDE2000 色差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519EA-DE41-4AA9-8FBB-E3AEF3686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458f71b4a49f5"/>
          <a:stretch xmlns:a="http://schemas.openxmlformats.org/drawingml/2006/main"/>
        </p:blipFill>
        <p:spPr>
          <a:xfrm xmlns:a="http://schemas.openxmlformats.org/drawingml/2006/main">
            <a:off x="7664387" y="1762125"/>
            <a:ext cx="3445002" cy="39147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AC05A-6902-4623-8E6A-1EB32AF7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81025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真实交互页的 TE 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37841-5BA9-4BCA-8CC5-D83774A7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1.47×10⁻⁸ 是 sRGB 分量复算差异，不是 ΔE00 或实验误差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B9C33-503A-48D2-8548-13C6B90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613483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3829F-0620-4238-941F-204FD61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图案映射与文件导出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88A18-E8C3-42DF-97D7-7A491264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独立单柱解析路线，按 Lab 近邻匹配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98F0-67F4-40A6-896E-6561FD4F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F0BF3-88E7-44CD-AF3B-56FC8AF7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图像缩放后提取像素颜色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EF9DA-A149-46B5-9AE4-3EF1763D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结构参数阵列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48B13-E1A0-4C01-8DE3-301FCF0E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/ H / P 对应每个输出像素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23827-6CFB-4D0E-A638-97C948E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PNG / CSV / JSON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7E10E-1069-4405-8F91-256DBF443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7a45226bc4a55"/>
          <a:stretch xmlns:a="http://schemas.openxmlformats.org/drawingml/2006/main"/>
        </p:blipFill>
        <p:spPr>
          <a:xfrm xmlns:a="http://schemas.openxmlformats.org/drawingml/2006/main">
            <a:off x="4591050" y="1922031"/>
            <a:ext cx="6924675" cy="389976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8AAF-36AF-42F9-8EBD-F74FC5F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截图为 4×3 功能测试图；输出参数仍需工艺与物理复核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C8FFC-E300-4069-A4D5-E26162AF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82136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BA40D-73D4-488C-B17B-11BE100D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数据审核与软件验证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78455-4FBD-41CB-B4E8-6DFC1C7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物理数据检查与功能测试分别报告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0F581-44C6-4E08-9A90-3821DBE7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21,088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F3EEC-F9C1-4F9B-8A4B-A3E41331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审核参考记录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31AFD-9856-4A22-8652-9A659AEB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2AE7A-D241-4A53-829C-8C9EF4F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无效记录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2F606-6FC4-4C87-A0F3-F956B3FD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1.79×10⁻⁷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50581-4726-4ABB-A52F-24237CCF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最大点级 |R+T−1|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BFDAD-88FD-4FFE-AB7D-F67AA1BB0D1A}"/>
              </a:ext>
            </a:extLst>
          </p:cNvPr>
          <p:cNvGraphicFramePr/>
          <p:nvPr/>
        </p:nvGraphicFramePr>
        <p:xfrm>
          <a:off xmlns:a="http://schemas.openxmlformats.org/drawingml/2006/main" x="609600" y="3581400"/>
          <a:ext xmlns:a="http://schemas.openxmlformats.org/drawingml/2006/main" cx="10972800" cy="2105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143500"/>
                <a:gridCol w="3733800"/>
              </a:tblGrid>
              <a:tr h="701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检查层级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已保存结果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数据与颜色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字段、81 点、有限值、守恒及复算通过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TiO₂ / SiO₂ / air，p，0°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运行与流程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项运行检查；19 项应用流程通过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2026-10-06 离线版本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3C7EA-8533-4FB0-B9DA-FF2C5A0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来源：本地审计 JSON；分辨率设置不构成收敛声明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1EEB2-9FE1-4089-A20A-0C499D64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295189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B53CC-AC6A-4C8D-A8DD-238B99AB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同类工作流对比与软件创新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12544-B764-458B-9A2D-BE24F211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按工作流能力比较，不宣称未经测试的性能领先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5BCD7-DA77-4603-BF40-723585E6557B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667000"/>
                <a:gridCol w="2667000"/>
                <a:gridCol w="3562350"/>
              </a:tblGrid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分散脚本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单一预测工具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本系统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输入与模型条件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由使用者传递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依赖工具约定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上下文与资源检查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结果表达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需额外整合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多为单一结果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多候选、光谱与色度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结果复用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手工整理文件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依赖单独实现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导出与上下文绑定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AB8F4-F71E-4477-A2E4-1159537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约束搜索与候选复算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548C2-3081-4E99-B996-0CF5954D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19700"/>
            <a:ext cx="5438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模型资源与结果上下文绑定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2C551-2405-4895-AECE-676700D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对比对象是常见工作流形态；核心算法与工具的已有来源见备注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AFB55-6032-4F9D-A266-1989E04C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2978564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2914B-8D42-4A39-BF59-4D717F73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应用场景与推广路径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BCD3A-10FF-440C-8AFE-F760F63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先服务教学和早期筛选，再验证器件应用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BC6D5-441B-4F55-9523-80B4830E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光学教学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66C47-8A0F-4AC5-A787-1AE84E1B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867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理解参数、光谱与颜色的关系</a:t>
            </a:r>
          </a:p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用现有参考记录做可复核案例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8EC6C-7691-4F0E-87F2-E649BC0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43100"/>
            <a:ext cx="5210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早期方案筛选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C77D8-2174-4010-A8C8-A08A2D65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76525"/>
            <a:ext cx="5210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比较候选并导出结构数据</a:t>
            </a:r>
          </a:p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交给统一物理或实验验证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2B33F-B4DD-4EEC-A161-23387306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1BC0B-401E-4C5A-8905-D9D06C61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01  离线示例与教程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46F61-AE9C-4568-AA96-8F80161F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02  小规模任务试用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F4C26-DD62-4A0E-8812-FE277329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2915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03  工艺与实验闭环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84CCA-3116-43D6-90AB-2FCCE6A0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87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后续试用拟记录完成时间、失败原因和用户反馈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766AB-377B-4A7A-9860-070A8E29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推广步骤为计划，当前没有试点效果或商业收入声明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E490C-CCDF-46EE-876C-152EAE8E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5813667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C667-57A5-4146-BB27-DC705889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总结与下一步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7B0FE-0AD7-41F0-8800-D2B402C7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目标颜色、候选结构、光谱色度和导出形成完整软件流程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5646F-1F89-48BB-8F81-AB26CBC8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8681F-AB24-4245-B990-36BA8E00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62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本地交互、候选搜索、分析与导出</a:t>
            </a:r>
          </a:p>
          <a:p xmlns:a="http://schemas.openxmlformats.org/drawingml/2006/main">
            <a: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参考数据审核与真实功能检查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CF3B1-A9B8-4599-8987-FC7C757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待完善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32868-8DD8-42B7-B898-AB62E2B3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0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模型覆盖与候选匹配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制造约束、任务试用及实验验证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483E9-5624-4545-8A85-A53548C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404 Not Found队   谢谢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32A85-2D79-460F-8F6E-168893A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623411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2026-10-09T15:13:27.6960000Z</dcterms:created>
  <dcterms:modified xsi:type="dcterms:W3CDTF">2026-10-09T15:13:27.6960000Z</dcterms:modified>
</coreProperties>
</file>