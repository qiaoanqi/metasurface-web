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2725506414df9" /><Relationship Type="http://schemas.openxmlformats.org/officeDocument/2006/relationships/extended-properties" Target="/docProps/app.xml" Id="Rdca8f72b87cd4a99" /><Relationship Type="http://schemas.openxmlformats.org/officeDocument/2006/relationships/officeDocument" Target="/ppt/presentation.xml" Id="Re132e9ab3e6f40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0777e3f9404270"/>
  </p:sldMasterIdLst>
  <p:notesMasterIdLst>
    <p:notesMasterId xmlns:r="http://schemas.openxmlformats.org/officeDocument/2006/relationships" r:id="Raa12b39453424db3"/>
  </p:notesMasterIdLst>
  <p:sldIdLst>
    <p:sldId xmlns:r="http://schemas.openxmlformats.org/officeDocument/2006/relationships" id="256" r:id="Rb55162e0e90f4b71"/>
    <p:sldId xmlns:r="http://schemas.openxmlformats.org/officeDocument/2006/relationships" id="257" r:id="R6a7e67473e0e4268"/>
    <p:sldId xmlns:r="http://schemas.openxmlformats.org/officeDocument/2006/relationships" id="258" r:id="R0408dcb8a6d44567"/>
    <p:sldId xmlns:r="http://schemas.openxmlformats.org/officeDocument/2006/relationships" id="259" r:id="Rc546ca6933694ef1"/>
    <p:sldId xmlns:r="http://schemas.openxmlformats.org/officeDocument/2006/relationships" id="260" r:id="R078ff9d817834cae"/>
    <p:sldId xmlns:r="http://schemas.openxmlformats.org/officeDocument/2006/relationships" id="261" r:id="R302df1efa0b942f1"/>
    <p:sldId xmlns:r="http://schemas.openxmlformats.org/officeDocument/2006/relationships" id="262" r:id="R5308025b5eda460e"/>
    <p:sldId xmlns:r="http://schemas.openxmlformats.org/officeDocument/2006/relationships" id="263" r:id="R7eefa6cf8c3940ed"/>
    <p:sldId xmlns:r="http://schemas.openxmlformats.org/officeDocument/2006/relationships" id="264" r:id="R8170716bf4674958"/>
    <p:sldId xmlns:r="http://schemas.openxmlformats.org/officeDocument/2006/relationships" id="265" r:id="R509c9da1821d47fa"/>
    <p:sldId xmlns:r="http://schemas.openxmlformats.org/officeDocument/2006/relationships" id="266" r:id="R05571ffb90084fcd"/>
    <p:sldId xmlns:r="http://schemas.openxmlformats.org/officeDocument/2006/relationships" id="267" r:id="R9872ae4766684772"/>
    <p:sldId xmlns:r="http://schemas.openxmlformats.org/officeDocument/2006/relationships" id="268" r:id="R06829ca94b834a5e"/>
    <p:sldId xmlns:r="http://schemas.openxmlformats.org/officeDocument/2006/relationships" id="269" r:id="Rfd10047533794bb0"/>
    <p:sldId xmlns:r="http://schemas.openxmlformats.org/officeDocument/2006/relationships" id="270" r:id="R15d5700610804b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f0320b6459447c" /><Relationship Type="http://schemas.openxmlformats.org/officeDocument/2006/relationships/slideMaster" Target="/ppt/slideMasters/slideMaster1.xml" Id="R510777e3f9404270" /><Relationship Type="http://schemas.openxmlformats.org/officeDocument/2006/relationships/notesMaster" Target="/ppt/notesMasters/notesMaster1.xml" Id="Raa12b39453424db3" /><Relationship Type="http://schemas.openxmlformats.org/officeDocument/2006/relationships/presProps" Target="/ppt/presProps.xml" Id="Rb447375e11834726" /><Relationship Type="http://schemas.openxmlformats.org/officeDocument/2006/relationships/tableStyles" Target="/ppt/tableStyles.xml" Id="R130e5c734a7640c7" /><Relationship Type="http://schemas.openxmlformats.org/officeDocument/2006/relationships/slide" Target="/ppt/slides/slide1.xml" Id="Rb55162e0e90f4b71" /><Relationship Type="http://schemas.openxmlformats.org/officeDocument/2006/relationships/slide" Target="/ppt/slides/slide2.xml" Id="R6a7e67473e0e4268" /><Relationship Type="http://schemas.openxmlformats.org/officeDocument/2006/relationships/slide" Target="/ppt/slides/slide3.xml" Id="R0408dcb8a6d44567" /><Relationship Type="http://schemas.openxmlformats.org/officeDocument/2006/relationships/slide" Target="/ppt/slides/slide4.xml" Id="Rc546ca6933694ef1" /><Relationship Type="http://schemas.openxmlformats.org/officeDocument/2006/relationships/slide" Target="/ppt/slides/slide5.xml" Id="R078ff9d817834cae" /><Relationship Type="http://schemas.openxmlformats.org/officeDocument/2006/relationships/slide" Target="/ppt/slides/slide6.xml" Id="R302df1efa0b942f1" /><Relationship Type="http://schemas.openxmlformats.org/officeDocument/2006/relationships/slide" Target="/ppt/slides/slide7.xml" Id="R5308025b5eda460e" /><Relationship Type="http://schemas.openxmlformats.org/officeDocument/2006/relationships/slide" Target="/ppt/slides/slide8.xml" Id="R7eefa6cf8c3940ed" /><Relationship Type="http://schemas.openxmlformats.org/officeDocument/2006/relationships/slide" Target="/ppt/slides/slide9.xml" Id="R8170716bf4674958" /><Relationship Type="http://schemas.openxmlformats.org/officeDocument/2006/relationships/slide" Target="/ppt/slides/slide10.xml" Id="R509c9da1821d47fa" /><Relationship Type="http://schemas.openxmlformats.org/officeDocument/2006/relationships/slide" Target="/ppt/slides/slide11.xml" Id="R05571ffb90084fcd" /><Relationship Type="http://schemas.openxmlformats.org/officeDocument/2006/relationships/slide" Target="/ppt/slides/slide12.xml" Id="R9872ae4766684772" /><Relationship Type="http://schemas.openxmlformats.org/officeDocument/2006/relationships/slide" Target="/ppt/slides/slide13.xml" Id="R06829ca94b834a5e" /><Relationship Type="http://schemas.openxmlformats.org/officeDocument/2006/relationships/slide" Target="/ppt/slides/slide14.xml" Id="Rfd10047533794bb0" /><Relationship Type="http://schemas.openxmlformats.org/officeDocument/2006/relationships/slide" Target="/ppt/slides/slide15.xml" Id="R15d5700610804b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82a06e1caf4e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b1369065894e34" /><Relationship Type="http://schemas.openxmlformats.org/officeDocument/2006/relationships/notesMaster" Target="/ppt/notesMasters/notesMaster1.xml" Id="Rd20cd9d3c22d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97c570c874a57" /><Relationship Type="http://schemas.openxmlformats.org/officeDocument/2006/relationships/notesMaster" Target="/ppt/notesMasters/notesMaster1.xml" Id="R42ec2aa705aa4f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3425f51df4e19" /><Relationship Type="http://schemas.openxmlformats.org/officeDocument/2006/relationships/notesMaster" Target="/ppt/notesMasters/notesMaster1.xml" Id="Rd92a2214ee4e48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9cb6662ae14599" /><Relationship Type="http://schemas.openxmlformats.org/officeDocument/2006/relationships/notesMaster" Target="/ppt/notesMasters/notesMaster1.xml" Id="R53198a22b1c444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ba5b46519a4ac2" /><Relationship Type="http://schemas.openxmlformats.org/officeDocument/2006/relationships/notesMaster" Target="/ppt/notesMasters/notesMaster1.xml" Id="R6cf5336e1cba40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1ec324d8664f56" /><Relationship Type="http://schemas.openxmlformats.org/officeDocument/2006/relationships/notesMaster" Target="/ppt/notesMasters/notesMaster1.xml" Id="R4db508fd2bbb47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68af53d70a413d" /><Relationship Type="http://schemas.openxmlformats.org/officeDocument/2006/relationships/notesMaster" Target="/ppt/notesMasters/notesMaster1.xml" Id="R39d700e1978548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5a85a2a3e4ea1" /><Relationship Type="http://schemas.openxmlformats.org/officeDocument/2006/relationships/notesMaster" Target="/ppt/notesMasters/notesMaster1.xml" Id="R9c59e28bf58247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6d465612694d23" /><Relationship Type="http://schemas.openxmlformats.org/officeDocument/2006/relationships/notesMaster" Target="/ppt/notesMasters/notesMaster1.xml" Id="R488a90a2834c49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a0433f39dc4598" /><Relationship Type="http://schemas.openxmlformats.org/officeDocument/2006/relationships/notesMaster" Target="/ppt/notesMasters/notesMaster1.xml" Id="R11b8b04335954e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68e3548d8c4ab7" /><Relationship Type="http://schemas.openxmlformats.org/officeDocument/2006/relationships/notesMaster" Target="/ppt/notesMasters/notesMaster1.xml" Id="R11e7412f4ea54a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4b2ab638774b0c" /><Relationship Type="http://schemas.openxmlformats.org/officeDocument/2006/relationships/notesMaster" Target="/ppt/notesMasters/notesMaster1.xml" Id="R010fb2985a8c49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502fa8d7f544c8" /><Relationship Type="http://schemas.openxmlformats.org/officeDocument/2006/relationships/notesMaster" Target="/ppt/notesMasters/notesMaster1.xml" Id="R22b654ec24e245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54cf9885684b40" /><Relationship Type="http://schemas.openxmlformats.org/officeDocument/2006/relationships/notesMaster" Target="/ppt/notesMasters/notesMaster1.xml" Id="R8f83faad63c749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634ea3fc31440b" /><Relationship Type="http://schemas.openxmlformats.org/officeDocument/2006/relationships/notesMaster" Target="/ppt/notesMasters/notesMaster1.xml" Id="Raa8c928a74dd45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</a:t>
            </a:r>
          </a:p>
          <a:p xmlns:a="http://schemas.openxmlformats.org/drawingml/2006/main">
            <a:r>
              <a:t>各位评委老师好，我是404 Not Found队的主讲人。我们汇报的作品是AI超表面结构色智能设计系统，参赛方向是AI+软件创新。项目面向微纳光学的早期设计，把目标颜色、候选结构、光谱分析和结果导出放在一个本地可运行的软件中。接下来重点介绍软件如何结合AI，以及我们用什么证据验证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output/playwright/main8503-preview-1440.png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25 秒</a:t>
            </a:r>
          </a:p>
          <a:p xmlns:a="http://schemas.openxmlformats.org/drawingml/2006/main">
            <a:r>
              <a:t>本项目的算法与系统开发、数据审计和功能测试由我完成，我同时负责材料统筹和本次主讲。陈雍杰接下来负责排练计时、材料核对和问答记录，郭千弘负责演示备份、会议调试和录屏支持。表中分别标明开发工作和答辩筹备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用户确认的成员与实际贡献</a:t>
            </a:r>
          </a:p>
          <a:p xmlns:a="http://schemas.openxmlformats.org/drawingml/2006/main">
            <a:r>
              <a:t>校赛通知附件名单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结构色来自微纳结构对不同波长光的响应，改变直径、高度和周期，颜色就可能发生变化。早期设计者往往先有一个目标颜色，却不知道从哪组参数开始。只看到一个HEX色值，又无法判断光谱形状和结果来源。项目要解决的是这一段工作流：快速提出候选，让用户看到参数、光谱和色差，并把结果带走继续复核。我们的需求分析来自设计流程与项目实践，当前没有把它包装成大规模用户调研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这张图来自已保存的真实离线界面。用户先选结构、材料、偏振和角度，再输入目标色并运行搜索。得到候选后，可以应用到预览页，继续查看光谱或导出数据。预览、逆设计、图案、映射、光谱共五个页面，围绕同一参数上下文工作。这里强调的是可用的软件流程。后面会单独说明候选的质量和参考数据，避免把“按钮运行成功”当作物理精度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.state/ui_previews/offline_smart_grid_verified_20261006.png</a:t>
            </a:r>
          </a:p>
          <a:p xmlns:a="http://schemas.openxmlformats.org/drawingml/2006/main">
            <a:r>
              <a:t>.state/offline_real_app_flows_final_20261006.json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系统分为界面、计算路由、颜色表达和结果导出几个部分。路由首先检查结构、材料、衬底以及入射条件，再决定使用注册代理模型、解析近似或腔体TMM。每个结果带有模型版本和适用范围。修改参数后，旧候选和旧分析不能继续冒充新条件下的结果。资源不匹配时，只有独立实现且明确标注的基线路线可以回落，否则就返回不可用。这样把能力边界落实到程序行为，而不是只在文档里写一行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app.py</a:t>
            </a:r>
          </a:p>
          <a:p xmlns:a="http://schemas.openxmlformats.org/drawingml/2006/main">
            <a:r>
              <a:t>ui_forward_routes.py</a:t>
            </a:r>
          </a:p>
          <a:p xmlns:a="http://schemas.openxmlformats.org/drawingml/2006/main">
            <a:r>
              <a:t>ui_inverse_contracts.py</a:t>
            </a:r>
          </a:p>
          <a:p xmlns:a="http://schemas.openxmlformats.org/drawingml/2006/main">
            <a:r>
              <a:t>ui_model_resources.py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AI部分采用残差多层感知机ResMLP。七个输入包括直径、高度、周期、入射角，以及偏振、材料和衬底编码，输出为380到780纳米的81点反射光谱。典型实现使用256维隐藏层和4个残差块，运行时按实际权重确认。ONNX承担CPU前向推理，PyTorch支持梯度搜索，部分路线对多个注册模型取均值。搜索在预测光谱上寻找候选。现有代理来自历史训练资源，早期求解器与背景口径存在已记录风险，绝对物理精度尚未按修复后的求解器重新验证。新审核参考库与它分开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torch_model.py:_RCWA_ResMLP</a:t>
            </a:r>
          </a:p>
          <a:p xmlns:a="http://schemas.openxmlformats.org/drawingml/2006/main">
            <a:r>
              <a:t>ml_module.py:_get_rcwa_sessions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</a:t>
            </a:r>
          </a:p>
          <a:p xmlns:a="http://schemas.openxmlformats.org/drawingml/2006/main">
            <a:r>
              <a:t>智能网格采用两阶段搜索。第一阶段在图中尺寸范围生成8乘8乘8网格，排除周期小于1.2倍直径的结构，再按CIEDE2000色差保留三个种子。第二阶段在每个种子附近采用正负8纳米的三档偏移，生成3乘3乘3邻域。最后排序、去重，并对舍入后的参数重新计算颜色。512加81表示过滤前采样位置上限，实际评估还受几何过滤与复算影响。这种方式把搜索范围和排序依据落实到程序中，但没有全局最优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ml_module.py:smart_grid_search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这组结果来自10月6日保存的真实候选JSON。目标为浅蓝色80C8FF，条件是TiO2、SiO2、单柱、TE和零度。第一名的直径350、高度511.5、周期484.9纳米，预测颜色为6C8895，色差约21.67，和目标仍有明显差距。软件完成了搜索、排序、应用和导出，同时把当前候选质量展示出来。这条案例验证的是工作流，不是高精度颜色匹配。用户还可以比较其他条件，候选在制造之前仍需要统一物理口径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.state/offline_flow_smart_20261006.json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下面是独立的审核参考记录，和上一页代理候选不是同一条结果。记录编号4，几何参数140、281、407纳米，条件是TiO2、SiO2、空气背景、p偏振、零度入射。图中绘出原始81个反射率点，显示颜色约为242D49。这条记录的最大R加T减1误差约为3.67乘10的负13次方。它证明该条数据的守恒和颜色转换能复核，但不代表nG151和Nxy256已经完成所有分辨率的收敛验证，也不代表代理模型在这个记录上有同样的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competition/tio2_air_reference_records_v1.jsonl</a:t>
            </a:r>
          </a:p>
          <a:p xmlns:a="http://schemas.openxmlformats.org/drawingml/2006/main">
            <a:r>
              <a:t>competition/tio2_air_day_audit_20260930.json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</a:t>
            </a:r>
          </a:p>
          <a:p xmlns:a="http://schemas.openxmlformats.org/drawingml/2006/main">
            <a:r>
              <a:t>颜色显示使用统一的色度学转换。反射光谱结合D65光源和CIE1931二度配色函数得到XYZ，再得到色度坐标和sRGB显示颜色，候选用CIEDE2000排序。右侧是真实交互页的CIE图，这里是TE路线的界面示例，不与前面的p偏振参考记录混用。21088条参考数据的独立颜色复算中，最大sRGB分量差约1.47乘10的负8次方。这个数字是存储颜色和复算颜色的数值一致性，不是目标色差，也不是实验精度。显示器、光源与制造后的器件仍可能带来额外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color_utils.py</a:t>
            </a:r>
          </a:p>
          <a:p xmlns:a="http://schemas.openxmlformats.org/drawingml/2006/main">
            <a:r>
              <a:t>competition/tio2_air_day_color_audit_20260930.json</a:t>
            </a:r>
          </a:p>
          <a:p xmlns:a="http://schemas.openxmlformats.org/drawingml/2006/main">
            <a:r>
              <a:t>output/playwright/main8503-spectrum-1440.png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图案功能把输入图像映射为结构参数阵列。右侧是保存的本地功能检查截图，使用一个4乘3像素测试图，能够生成输入和映射结果。当前这条路线采用精确注册的单柱解析颜色库，在Lab空间做近邻匹配，和前面神经网络的两阶段搜索独立。它可以导出PNG映射图、CSV参数表和JSON上下文信息。图案颜色没有在此承诺完全复原，也没有通过制造工艺验证，所以我们把输出定位为参数数据，不写成可直接交付电子束曝光的制造版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.state/ui_previews/offline_light_pattern_verified_20261006.png</a:t>
            </a:r>
          </a:p>
          <a:p xmlns:a="http://schemas.openxmlformats.org/drawingml/2006/main">
            <a:r>
              <a:t>ui_pattern_contracts.py</a:t>
            </a:r>
          </a:p>
          <a:p xmlns:a="http://schemas.openxmlformats.org/drawingml/2006/main">
            <a:r>
              <a:t>output/playwright/main8503-final-exports-20260824/metadata.json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测试分为两层。第一层是参考数据审核，共21088条记录、21083组独立几何，五组重复输出相同，无字段、形状、有限值、几何和守恒检查异常。最大点级守恒误差约1.79乘10的负7次方。第二层是软件运行检查，10月6日的存档包含27项实际运行检查和19项真实应用流程检查，覆盖模型资源、搜索应用、导出、参考查询、主题和分析页面。它们使用实际模型，没有伪造返回值。测试证明已记录版本的软件链路能执行，颜色转换一致，不能外推为全材料、全条件的模型准确率，也不能代替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competition/tio2_air_day_audit_20260930.json</a:t>
            </a:r>
          </a:p>
          <a:p xmlns:a="http://schemas.openxmlformats.org/drawingml/2006/main">
            <a:r>
              <a:t>competition/tio2_air_day_color_audit_20260930.json</a:t>
            </a:r>
          </a:p>
          <a:p xmlns:a="http://schemas.openxmlformats.org/drawingml/2006/main">
            <a:r>
              <a:t>.state/offline_feature_runtime_audit_final_20261006.json</a:t>
            </a:r>
          </a:p>
          <a:p xmlns:a="http://schemas.openxmlformats.org/drawingml/2006/main">
            <a:r>
              <a:t>.state/offline_real_app_flows_final_20261006.json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</a:t>
            </a:r>
          </a:p>
          <a:p xmlns:a="http://schemas.openxmlformats.org/drawingml/2006/main">
            <a:r>
              <a:t>与常见的脚本工作流和只返回单个预测值的工具相比，本项目把候选、光谱、色度和导出连到同一上下文中。表格比较的是工作流形态，不是没有测过的竞品速度。贡献主要有两方面：第一，把代理预测接入有几何约束、色差排序和候选复算的搜索流程。第二，把模型资源、结果上下文和导出文件绑定起来，避免换了材料或偏振却继续展示旧结果。ResMLP、RCWA和CIEDE2000本身是已有方法，我们不声称发明这些算法。项目创新集中在AI软件的组合实现、可追溯性和使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ui_inverse_contracts.py</a:t>
            </a:r>
          </a:p>
          <a:p xmlns:a="http://schemas.openxmlformats.org/drawingml/2006/main">
            <a:r>
              <a:t>ml_module.py</a:t>
            </a:r>
          </a:p>
          <a:p xmlns:a="http://schemas.openxmlformats.org/drawingml/2006/main">
            <a:r>
              <a:t>ui_analysis_snapshots.py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</a:t>
            </a:r>
          </a:p>
          <a:p xmlns:a="http://schemas.openxmlformats.org/drawingml/2006/main">
            <a:r>
              <a:t>近期最合适的应用是光学课程演示和早期方案筛选。在教学中，学生改变几何参数，观察光谱与颜色如何关联；在研究前期，使用候选表和导出文件减少跨脚本整理。推广计划先提供离线包和示例教程，再做小规模任务试用，记录用户完成时间、失败原因与反馈。结构色标识和微纳图案是后续方向，需要补齐制造约束、统一物理复核与实验样品。我们目前没有用户试点、收入或专利数据，因此只介绍可行路径，不把应用潜力写成已经完成的商业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competition/11_本地离线演示说明.md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</a:t>
            </a:r>
          </a:p>
          <a:p xmlns:a="http://schemas.openxmlformats.org/drawingml/2006/main">
            <a:r>
              <a:t>总结来说，项目已把目标色搜索、光谱色度分析、图案映射和导出做成了本地软件，并用现有参考审计与真实功能记录支撑它。当前的不足是模型覆盖和目标色匹配仍有限，双柱ONNX与完整制造验证也没有补齐。下一步按统一口径扩充可审核资源，开展任务试用，再推动物理与实验闭环。我们希望这套软件先成为早期设计者能使用、能检查、能继续复核的工具。谢谢各位老师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</a:t>
            </a:r>
          </a:p>
          <a:p xmlns:a="http://schemas.openxmlformats.org/drawingml/2006/main">
            <a:r>
              <a:t>competition/02_技术方案.md</a:t>
            </a:r>
          </a:p>
          <a:p xmlns:a="http://schemas.openxmlformats.org/drawingml/2006/main">
            <a:r>
              <a:t>competition/14_离线功能核对.md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59e280ab347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e9e7e658a4f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38399ece043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ea5296c984b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2c441a9314c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f917fa0b743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0686F7-BC4C-4C52-B03D-6248B6364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5672AC-C0CD-40BC-B581-A64018669A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B25D40-CB5B-4208-AE95-ACCB9E21D5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3B25AF-284E-47DF-9B8C-3B89F9E96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FC8B28-5F23-46DD-88BB-0511187E5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02D6CE-D8C4-4FEB-823A-911B91C68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2848DA-C6AB-4EE2-BF52-7344A82A9A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F7BCEA-C327-4D1E-B2D8-91B6E667EF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8DFD49-A421-442C-9307-9E21271BA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BB9A18-9C90-425A-B69B-EA23112547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69a764305443b" /><Relationship Type="http://schemas.openxmlformats.org/officeDocument/2006/relationships/slideLayout" Target="/ppt/slideLayouts/slideLayout1.xml" Id="R1566efd96eff4d46" /><Relationship Type="http://schemas.openxmlformats.org/officeDocument/2006/relationships/slideLayout" Target="/ppt/slideLayouts/slideLayout2.xml" Id="R5b13430f9f964308" /><Relationship Type="http://schemas.openxmlformats.org/officeDocument/2006/relationships/slideLayout" Target="/ppt/slideLayouts/slideLayout3.xml" Id="Rf418e6190cb34583" /><Relationship Type="http://schemas.openxmlformats.org/officeDocument/2006/relationships/slideLayout" Target="/ppt/slideLayouts/slideLayout4.xml" Id="R89e3d66536584122" /><Relationship Type="http://schemas.openxmlformats.org/officeDocument/2006/relationships/slideLayout" Target="/ppt/slideLayouts/slideLayout5.xml" Id="R90539745aea648f1" /><Relationship Type="http://schemas.openxmlformats.org/officeDocument/2006/relationships/slideLayout" Target="/ppt/slideLayouts/slideLayout6.xml" Id="R2f7c8f7820ee4c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66efd96eff4d46"/>
    <p:sldLayoutId xmlns:r="http://schemas.openxmlformats.org/officeDocument/2006/relationships" id="2147483650" r:id="R5b13430f9f964308"/>
    <p:sldLayoutId xmlns:r="http://schemas.openxmlformats.org/officeDocument/2006/relationships" id="2147483651" r:id="Rf418e6190cb34583"/>
    <p:sldLayoutId xmlns:r="http://schemas.openxmlformats.org/officeDocument/2006/relationships" id="2147483652" r:id="R89e3d66536584122"/>
    <p:sldLayoutId xmlns:r="http://schemas.openxmlformats.org/officeDocument/2006/relationships" id="2147483653" r:id="R90539745aea648f1"/>
    <p:sldLayoutId xmlns:r="http://schemas.openxmlformats.org/officeDocument/2006/relationships" id="2147483654" r:id="R2f7c8f7820ee4c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a37f85b564f08" /><Relationship Type="http://schemas.openxmlformats.org/officeDocument/2006/relationships/image" Target="/ppt/media/image.png" Id="Rce41124a598e4a12" /><Relationship Type="http://schemas.openxmlformats.org/officeDocument/2006/relationships/notesSlide" Target="/ppt/notesSlides/notesSlide1.xml" Id="R5f7e7fe2bc5440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c4488ffca4a1c" /><Relationship Type="http://schemas.openxmlformats.org/officeDocument/2006/relationships/notesSlide" Target="/ppt/notesSlides/notesSlide2.xml" Id="Rd1c0eba5b8ad4b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93487503c4708" /><Relationship Type="http://schemas.openxmlformats.org/officeDocument/2006/relationships/notesSlide" Target="/ppt/notesSlides/notesSlide3.xml" Id="R53a0d99a802e44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a351ba82c456c" /><Relationship Type="http://schemas.openxmlformats.org/officeDocument/2006/relationships/image" Target="/ppt/media/image2.png" Id="Rc20914792fca46e6" /><Relationship Type="http://schemas.openxmlformats.org/officeDocument/2006/relationships/notesSlide" Target="/ppt/notesSlides/notesSlide4.xml" Id="Re37f21a21f6f45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1570953e04702" /><Relationship Type="http://schemas.openxmlformats.org/officeDocument/2006/relationships/notesSlide" Target="/ppt/notesSlides/notesSlide5.xml" Id="R72245f4d843b4c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3f54b90e144fc" /><Relationship Type="http://schemas.openxmlformats.org/officeDocument/2006/relationships/notesSlide" Target="/ppt/notesSlides/notesSlide6.xml" Id="R485d1fd1486848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204408173465e" /><Relationship Type="http://schemas.openxmlformats.org/officeDocument/2006/relationships/notesSlide" Target="/ppt/notesSlides/notesSlide7.xml" Id="Rd884d2f72cd243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cfb59d2da485f" /><Relationship Type="http://schemas.openxmlformats.org/officeDocument/2006/relationships/notesSlide" Target="/ppt/notesSlides/notesSlide8.xml" Id="R5a4b41d936654a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fb7c5a1a04725" /><Relationship Type="http://schemas.openxmlformats.org/officeDocument/2006/relationships/chart" Target="/ppt/slides/charts/chart1.xml" Id="R3819999086c64ab6" /><Relationship Type="http://schemas.openxmlformats.org/officeDocument/2006/relationships/notesSlide" Target="/ppt/notesSlides/notesSlide9.xml" Id="R0a848558249c4d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f74d360f24060" /><Relationship Type="http://schemas.openxmlformats.org/officeDocument/2006/relationships/image" Target="/ppt/media/image3.png" Id="R4762d3cf4d294105" /><Relationship Type="http://schemas.openxmlformats.org/officeDocument/2006/relationships/notesSlide" Target="/ppt/notesSlides/notesSlide10.xml" Id="R8fc5107db89543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c1145d4e54e8f" /><Relationship Type="http://schemas.openxmlformats.org/officeDocument/2006/relationships/image" Target="/ppt/media/image4.png" Id="R7b552d25b9ed440c" /><Relationship Type="http://schemas.openxmlformats.org/officeDocument/2006/relationships/notesSlide" Target="/ppt/notesSlides/notesSlide11.xml" Id="Rdd7a390d450f4c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5cb13906d14d95" /><Relationship Type="http://schemas.openxmlformats.org/officeDocument/2006/relationships/notesSlide" Target="/ppt/notesSlides/notesSlide12.xml" Id="R8621d0031e1e48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f47fe2fbd04f34" /><Relationship Type="http://schemas.openxmlformats.org/officeDocument/2006/relationships/notesSlide" Target="/ppt/notesSlides/notesSlide13.xml" Id="R1eb09e40c52947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4fcbf929446f6" /><Relationship Type="http://schemas.openxmlformats.org/officeDocument/2006/relationships/notesSlide" Target="/ppt/notesSlides/notesSlide14.xml" Id="Rc60e96e6f6c94c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bcb06a2424522" /><Relationship Type="http://schemas.openxmlformats.org/officeDocument/2006/relationships/notesSlide" Target="/ppt/notesSlides/notesSlide15.xml" Id="Rd42648a99388404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反射率 R</c:v>
          </c:tx>
          <c:spPr>
            <a:ln xmlns:a="http://schemas.openxmlformats.org/drawingml/2006/main" w="23813">
              <a:solidFill>
                <a:srgbClr val="56D5E9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380</c:v>
                </c:pt>
                <c:pt idx="1">
                  <c:v>385</c:v>
                </c:pt>
                <c:pt idx="2">
                  <c:v>390</c:v>
                </c:pt>
                <c:pt idx="3">
                  <c:v>395</c:v>
                </c:pt>
                <c:pt idx="4">
                  <c:v>400</c:v>
                </c:pt>
                <c:pt idx="5">
                  <c:v>405</c:v>
                </c:pt>
                <c:pt idx="6">
                  <c:v>410</c:v>
                </c:pt>
                <c:pt idx="7">
                  <c:v>415</c:v>
                </c:pt>
                <c:pt idx="8">
                  <c:v>420</c:v>
                </c:pt>
                <c:pt idx="9">
                  <c:v>425</c:v>
                </c:pt>
                <c:pt idx="10">
                  <c:v>430</c:v>
                </c:pt>
                <c:pt idx="11">
                  <c:v>435</c:v>
                </c:pt>
                <c:pt idx="12">
                  <c:v>440</c:v>
                </c:pt>
                <c:pt idx="13">
                  <c:v>445</c:v>
                </c:pt>
                <c:pt idx="14">
                  <c:v>450</c:v>
                </c:pt>
                <c:pt idx="15">
                  <c:v>455</c:v>
                </c:pt>
                <c:pt idx="16">
                  <c:v>460</c:v>
                </c:pt>
                <c:pt idx="17">
                  <c:v>465</c:v>
                </c:pt>
                <c:pt idx="18">
                  <c:v>470</c:v>
                </c:pt>
                <c:pt idx="19">
                  <c:v>475</c:v>
                </c:pt>
                <c:pt idx="20">
                  <c:v>480</c:v>
                </c:pt>
                <c:pt idx="21">
                  <c:v>485</c:v>
                </c:pt>
                <c:pt idx="22">
                  <c:v>490</c:v>
                </c:pt>
                <c:pt idx="23">
                  <c:v>495</c:v>
                </c:pt>
                <c:pt idx="24">
                  <c:v>500</c:v>
                </c:pt>
                <c:pt idx="25">
                  <c:v>505</c:v>
                </c:pt>
                <c:pt idx="26">
                  <c:v>510</c:v>
                </c:pt>
                <c:pt idx="27">
                  <c:v>515</c:v>
                </c:pt>
                <c:pt idx="28">
                  <c:v>520</c:v>
                </c:pt>
                <c:pt idx="29">
                  <c:v>525</c:v>
                </c:pt>
                <c:pt idx="30">
                  <c:v>530</c:v>
                </c:pt>
                <c:pt idx="31">
                  <c:v>535</c:v>
                </c:pt>
                <c:pt idx="32">
                  <c:v>540</c:v>
                </c:pt>
                <c:pt idx="33">
                  <c:v>545</c:v>
                </c:pt>
                <c:pt idx="34">
                  <c:v>550</c:v>
                </c:pt>
                <c:pt idx="35">
                  <c:v>555</c:v>
                </c:pt>
                <c:pt idx="36">
                  <c:v>560</c:v>
                </c:pt>
                <c:pt idx="37">
                  <c:v>565</c:v>
                </c:pt>
                <c:pt idx="38">
                  <c:v>570</c:v>
                </c:pt>
                <c:pt idx="39">
                  <c:v>575</c:v>
                </c:pt>
                <c:pt idx="40">
                  <c:v>580</c:v>
                </c:pt>
                <c:pt idx="41">
                  <c:v>585</c:v>
                </c:pt>
                <c:pt idx="42">
                  <c:v>590</c:v>
                </c:pt>
                <c:pt idx="43">
                  <c:v>595</c:v>
                </c:pt>
                <c:pt idx="44">
                  <c:v>600</c:v>
                </c:pt>
                <c:pt idx="45">
                  <c:v>605</c:v>
                </c:pt>
                <c:pt idx="46">
                  <c:v>610</c:v>
                </c:pt>
                <c:pt idx="47">
                  <c:v>615</c:v>
                </c:pt>
                <c:pt idx="48">
                  <c:v>620</c:v>
                </c:pt>
                <c:pt idx="49">
                  <c:v>625</c:v>
                </c:pt>
                <c:pt idx="50">
                  <c:v>630</c:v>
                </c:pt>
                <c:pt idx="51">
                  <c:v>635</c:v>
                </c:pt>
                <c:pt idx="52">
                  <c:v>640</c:v>
                </c:pt>
                <c:pt idx="53">
                  <c:v>645</c:v>
                </c:pt>
                <c:pt idx="54">
                  <c:v>650</c:v>
                </c:pt>
                <c:pt idx="55">
                  <c:v>655</c:v>
                </c:pt>
                <c:pt idx="56">
                  <c:v>660</c:v>
                </c:pt>
                <c:pt idx="57">
                  <c:v>665</c:v>
                </c:pt>
                <c:pt idx="58">
                  <c:v>670</c:v>
                </c:pt>
                <c:pt idx="59">
                  <c:v>675</c:v>
                </c:pt>
                <c:pt idx="60">
                  <c:v>680</c:v>
                </c:pt>
                <c:pt idx="61">
                  <c:v>685</c:v>
                </c:pt>
                <c:pt idx="62">
                  <c:v>690</c:v>
                </c:pt>
                <c:pt idx="63">
                  <c:v>695</c:v>
                </c:pt>
                <c:pt idx="64">
                  <c:v>700</c:v>
                </c:pt>
                <c:pt idx="65">
                  <c:v>705</c:v>
                </c:pt>
                <c:pt idx="66">
                  <c:v>710</c:v>
                </c:pt>
                <c:pt idx="67">
                  <c:v>715</c:v>
                </c:pt>
                <c:pt idx="68">
                  <c:v>720</c:v>
                </c:pt>
                <c:pt idx="69">
                  <c:v>725</c:v>
                </c:pt>
                <c:pt idx="70">
                  <c:v>730</c:v>
                </c:pt>
                <c:pt idx="71">
                  <c:v>735</c:v>
                </c:pt>
                <c:pt idx="72">
                  <c:v>740</c:v>
                </c:pt>
                <c:pt idx="73">
                  <c:v>745</c:v>
                </c:pt>
                <c:pt idx="74">
                  <c:v>750</c:v>
                </c:pt>
                <c:pt idx="75">
                  <c:v>755</c:v>
                </c:pt>
                <c:pt idx="76">
                  <c:v>760</c:v>
                </c:pt>
                <c:pt idx="77">
                  <c:v>765</c:v>
                </c:pt>
                <c:pt idx="78">
                  <c:v>770</c:v>
                </c:pt>
                <c:pt idx="79">
                  <c:v>775</c:v>
                </c:pt>
                <c:pt idx="80">
                  <c:v>780</c:v>
                </c:pt>
              </c:numCache>
            </c:numRef>
          </c:xVal>
          <c:yVal>
            <c:numRef>
              <c:f>'Chart Data'!$B$2:$B$82</c:f>
              <c:numCache>
                <c:formatCode>0.0</c:formatCode>
                <c:ptCount val="81"/>
                <c:pt idx="0">
                  <c:v>0.093146</c:v>
                </c:pt>
                <c:pt idx="1">
                  <c:v>0.10047</c:v>
                </c:pt>
                <c:pt idx="2">
                  <c:v>0.103475</c:v>
                </c:pt>
                <c:pt idx="3">
                  <c:v>0.101697</c:v>
                </c:pt>
                <c:pt idx="4">
                  <c:v>0.094213</c:v>
                </c:pt>
                <c:pt idx="5">
                  <c:v>0.076447</c:v>
                </c:pt>
                <c:pt idx="6">
                  <c:v>0.056793</c:v>
                </c:pt>
                <c:pt idx="7">
                  <c:v>0.058098</c:v>
                </c:pt>
                <c:pt idx="8">
                  <c:v>0.049751</c:v>
                </c:pt>
                <c:pt idx="9">
                  <c:v>0.037434</c:v>
                </c:pt>
                <c:pt idx="10">
                  <c:v>0.033399</c:v>
                </c:pt>
                <c:pt idx="11">
                  <c:v>0.031508</c:v>
                </c:pt>
                <c:pt idx="12">
                  <c:v>0.031821</c:v>
                </c:pt>
                <c:pt idx="13">
                  <c:v>0.034559</c:v>
                </c:pt>
                <c:pt idx="14">
                  <c:v>0.0404</c:v>
                </c:pt>
                <c:pt idx="15">
                  <c:v>0.049975</c:v>
                </c:pt>
                <c:pt idx="16">
                  <c:v>0.064005</c:v>
                </c:pt>
                <c:pt idx="17">
                  <c:v>0.083104</c:v>
                </c:pt>
                <c:pt idx="18">
                  <c:v>0.106293</c:v>
                </c:pt>
                <c:pt idx="19">
                  <c:v>0.127271</c:v>
                </c:pt>
                <c:pt idx="20">
                  <c:v>0.132881</c:v>
                </c:pt>
                <c:pt idx="21">
                  <c:v>0.116262</c:v>
                </c:pt>
                <c:pt idx="22">
                  <c:v>0.088835</c:v>
                </c:pt>
                <c:pt idx="23">
                  <c:v>0.064401</c:v>
                </c:pt>
                <c:pt idx="24">
                  <c:v>0.047228</c:v>
                </c:pt>
                <c:pt idx="25">
                  <c:v>0.036206</c:v>
                </c:pt>
                <c:pt idx="26">
                  <c:v>0.029348</c:v>
                </c:pt>
                <c:pt idx="27">
                  <c:v>0.025134</c:v>
                </c:pt>
                <c:pt idx="28">
                  <c:v>0.022577</c:v>
                </c:pt>
                <c:pt idx="29">
                  <c:v>0.021066</c:v>
                </c:pt>
                <c:pt idx="30">
                  <c:v>0.020221</c:v>
                </c:pt>
                <c:pt idx="31">
                  <c:v>0.019802</c:v>
                </c:pt>
                <c:pt idx="32">
                  <c:v>0.019657</c:v>
                </c:pt>
                <c:pt idx="33">
                  <c:v>0.019685</c:v>
                </c:pt>
                <c:pt idx="34">
                  <c:v>0.019817</c:v>
                </c:pt>
                <c:pt idx="35">
                  <c:v>0.020008</c:v>
                </c:pt>
                <c:pt idx="36">
                  <c:v>0.020226</c:v>
                </c:pt>
                <c:pt idx="37">
                  <c:v>0.020448</c:v>
                </c:pt>
                <c:pt idx="38">
                  <c:v>0.020658</c:v>
                </c:pt>
                <c:pt idx="39">
                  <c:v>0.02084</c:v>
                </c:pt>
                <c:pt idx="40">
                  <c:v>0.020984</c:v>
                </c:pt>
                <c:pt idx="41">
                  <c:v>0.021076</c:v>
                </c:pt>
                <c:pt idx="42">
                  <c:v>0.02109</c:v>
                </c:pt>
                <c:pt idx="43">
                  <c:v>0.020952</c:v>
                </c:pt>
                <c:pt idx="44">
                  <c:v>0.023018</c:v>
                </c:pt>
                <c:pt idx="45">
                  <c:v>0.025001</c:v>
                </c:pt>
                <c:pt idx="46">
                  <c:v>0.02639</c:v>
                </c:pt>
                <c:pt idx="47">
                  <c:v>0.02749</c:v>
                </c:pt>
                <c:pt idx="48">
                  <c:v>0.028394</c:v>
                </c:pt>
                <c:pt idx="49">
                  <c:v>0.029148</c:v>
                </c:pt>
                <c:pt idx="50">
                  <c:v>0.029779</c:v>
                </c:pt>
                <c:pt idx="51">
                  <c:v>0.030306</c:v>
                </c:pt>
                <c:pt idx="52">
                  <c:v>0.030742</c:v>
                </c:pt>
                <c:pt idx="53">
                  <c:v>0.031099</c:v>
                </c:pt>
                <c:pt idx="54">
                  <c:v>0.031384</c:v>
                </c:pt>
                <c:pt idx="55">
                  <c:v>0.031606</c:v>
                </c:pt>
                <c:pt idx="56">
                  <c:v>0.03177</c:v>
                </c:pt>
                <c:pt idx="57">
                  <c:v>0.031881</c:v>
                </c:pt>
                <c:pt idx="58">
                  <c:v>0.031945</c:v>
                </c:pt>
                <c:pt idx="59">
                  <c:v>0.031966</c:v>
                </c:pt>
                <c:pt idx="60">
                  <c:v>0.031947</c:v>
                </c:pt>
                <c:pt idx="61">
                  <c:v>0.031892</c:v>
                </c:pt>
                <c:pt idx="62">
                  <c:v>0.031805</c:v>
                </c:pt>
                <c:pt idx="63">
                  <c:v>0.031688</c:v>
                </c:pt>
                <c:pt idx="64">
                  <c:v>0.031545</c:v>
                </c:pt>
                <c:pt idx="65">
                  <c:v>0.031376</c:v>
                </c:pt>
                <c:pt idx="66">
                  <c:v>0.031186</c:v>
                </c:pt>
                <c:pt idx="67">
                  <c:v>0.030975</c:v>
                </c:pt>
                <c:pt idx="68">
                  <c:v>0.030746</c:v>
                </c:pt>
                <c:pt idx="69">
                  <c:v>0.030501</c:v>
                </c:pt>
                <c:pt idx="70">
                  <c:v>0.030241</c:v>
                </c:pt>
                <c:pt idx="71">
                  <c:v>0.029968</c:v>
                </c:pt>
                <c:pt idx="72">
                  <c:v>0.029684</c:v>
                </c:pt>
                <c:pt idx="73">
                  <c:v>0.029389</c:v>
                </c:pt>
                <c:pt idx="74">
                  <c:v>0.029086</c:v>
                </c:pt>
                <c:pt idx="75">
                  <c:v>0.028774</c:v>
                </c:pt>
                <c:pt idx="76">
                  <c:v>0.028456</c:v>
                </c:pt>
                <c:pt idx="77">
                  <c:v>0.028133</c:v>
                </c:pt>
                <c:pt idx="78">
                  <c:v>0.027804</c:v>
                </c:pt>
                <c:pt idx="79">
                  <c:v>0.027472</c:v>
                </c:pt>
                <c:pt idx="80">
                  <c:v>0.027137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9425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反射率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780"/>
          <c:min val="38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波长 / 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9425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80"/>
      </c:valAx>
      <c:spPr>
        <a:solidFill xmlns:a="http://schemas.openxmlformats.org/drawingml/2006/main">
          <a:srgbClr val="0C111A"/>
        </a:solidFill>
      </c:spPr>
    </c:plotArea>
    <c:plotVisOnly val="1"/>
  </c:chart>
  <c:spPr>
    <a:solidFill xmlns:a="http://schemas.openxmlformats.org/drawingml/2006/main">
      <a:srgbClr val="0C111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2079B-769E-482F-BF61-E179E89C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AI 超表面</a:t>
            </a:r>
          </a:p>
          <a:p xmlns:a="http://schemas.openxmlformats.org/drawingml/2006/main">
            <a:pPr>
              <a:def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结构色智能设计系统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2D9B2-D5E8-4BEF-9E4E-45DBED3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43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面向微纳光学早期设计的 AI 软件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70382-F4DD-4BDC-80BF-C2F965BD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0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目标颜色  /  候选结构  /  光谱分析  /  结果导出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F3C82-9470-4B67-8074-E91187258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1124a598e4a12"/>
          <a:stretch xmlns:a="http://schemas.openxmlformats.org/drawingml/2006/main"/>
        </p:blipFill>
        <p:spPr>
          <a:xfrm xmlns:a="http://schemas.openxmlformats.org/drawingml/2006/main">
            <a:off x="609600" y="3724311"/>
            <a:ext cx="10972800" cy="17906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01D1A-3ABF-4E0C-BD0F-7694F5AC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53100"/>
            <a:ext cx="3848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404 Not Found队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92CC4-FB34-46D9-8DEB-A3B8BE69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819775"/>
            <a:ext cx="6924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算法创新赛 · AI+软件创新   第 4 答辩室 · 序号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AABEF-8E6A-4991-AFA3-A72795D7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45746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6A16D-FF7E-457E-A233-692F4E48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团队成员与分工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E1536-4AC7-4197-B9EA-E79BB4D3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404 Not Found队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F3E50-6AA2-4AD8-A6EB-CBDCCE86686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6286500"/>
                <a:gridCol w="31623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工作阶段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乔安琪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项目负责人、核心开发、审计与主讲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已承担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陈雍杰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排练计时、材料核对、问答记录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答辩筹备安排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郭千弘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演示备份、会议调试、录屏支持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答辩筹备安排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B34DA-2FB7-4C6D-AB88-E38C41B7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核心技术贡献由项目负责人承担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99C6-56F0-4E57-AC22-5FAB447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其他成员按上述安排参与答辩筹备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5AA4A-1B22-4D99-A080-369F3C6C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579627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72083-CB6E-4FF5-BD84-F022F644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背景与用户需求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8BEBB-E8FD-4D21-8676-6D36E139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目标用户：光学教学、研究中的早期方案筛选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7B218-52BB-4CF1-82AE-601DDB7F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用户先知道颜色，未必知道结构参数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89411-9D4C-485A-B451-3207C08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输入需求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342FD-A121-42F1-9014-E9C1FF18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146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目标色与材料、入射条件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13729-0225-4E71-A452-F12CEB4B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1401B-1AD9-49B2-977E-F0DD97DA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设计判断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834AF-D1C7-4681-99CC-0FAD4BF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67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/ H / P 候选、光谱与色差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AC94F-B17D-481D-A588-E7209F37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9A176-2030-44D6-931C-C8119D57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继续使用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1049A-F61B-479E-BA2C-0BB00B33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96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文件导出与后续物理复核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5244E-6F94-4F26-B2E7-0C9498D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CA687-8AB9-4902-A502-35B70E37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当前定位：快速探索与候选筛选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C3D33-C041-431A-A6AF-37AAF263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053336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79929-69DF-4B05-8B5A-D890962C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实际软件流程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3C65F-3C9B-4FC4-9F1C-75AF6EA3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输入目标色，生成候选，再应用、分析和导出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3F61A-A079-4713-BB91-81E70C0AC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914792fca46e6"/>
          <a:stretch xmlns:a="http://schemas.openxmlformats.org/drawingml/2006/main"/>
        </p:blipFill>
        <p:spPr>
          <a:xfrm xmlns:a="http://schemas.openxmlformats.org/drawingml/2006/main">
            <a:off x="1600746" y="1724025"/>
            <a:ext cx="6266358" cy="44481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84C78-4689-4938-94F9-F6783344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五个页面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16CE-A73E-437D-878B-5672DEDC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2333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预览</a:t>
            </a:r>
          </a:p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逆设计</a:t>
            </a:r>
          </a:p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图案</a:t>
            </a:r>
          </a:p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光谱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B6FEC-BA91-4B70-BFCF-4C572557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来源：2026-10-06 离线界面与应用流程记录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3DFAF-3431-40D4-AE17-2C1ADE5F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756985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9F760-2BAD-46D0-BE57-E7D40AE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系统架构与运行环境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9B4AB-34EA-4699-BC05-C764478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Streamlit 界面连接本地模型、颜色计算和文件导出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5ADB5-AB1E-4EC3-8B8B-0778CC3E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A9AB8-D013-41D9-A5F9-793768D2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5FF95-90D1-48DF-A95E-1AAE109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结构与材料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目标色与入射条件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A486B-656D-4F5E-8AD6-F422C6BA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14D7B-052F-4B89-95ED-5DACE9FE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上下文检查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6BD5C-4BE0-4637-84A8-0D0F89F7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资源与数据形状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CE096-6A6E-46B8-83B4-2BF61FB8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6F39D-0E85-477A-A519-C5487DE3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计算路由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D27E1-83BB-4938-96DC-F056D23C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注册代理模型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解析近似 / FP-TMM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7B110-AB4C-4F15-AEE4-C66C8BEE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57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C9615-91E1-4242-80E4-74ECE94E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479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结果表达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75902-8670-4FD6-852B-14606478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67075"/>
            <a:ext cx="252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光谱与颜色</a:t>
            </a:r>
          </a:p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CSV / JSON / 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8FC86-CA86-447B-ABBC-F36FA573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E04EF-E3D5-4F5B-8BF0-DC748D9C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结果随上下文保存，参数变化后旧结果失效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5C064-3F4D-4E7F-888C-FC8E3025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Python · NumPy · PyTorch · ONNX Runtime CPU</a:t>
            </a:r>
          </a:p>
          <a:p xmlns:a="http://schemas.openxmlformats.org/drawingml/2006/main">
            <a:pPr>
              <a:def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本地准备好依赖后可断网使用，云端已有部署版本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66D3E-C4DF-4B7D-883D-1DBA790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438647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488A9-0DDE-468A-9302-8446723C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核心代理模型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8A174-9C17-4CDC-90FD-352B3E70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ResMLP 学习几何参数与反射光谱的关系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7C21F-E875-4BC1-9D2C-F07C18A7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7 维输入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CAA98-ABC5-4D22-9AF2-FB52DCD6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D、H、P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入射角、偏振编码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材料编码、衬底编码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0DFFD-0FDB-470E-8F16-19E12A19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残差多层感知机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3AB5E-14E3-4DEA-963E-A2BFD183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09875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典型实现：256 维隐藏层，4 个残差块</a:t>
            </a:r>
          </a:p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部分路线按注册模型取均值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D4248-6C42-485D-BB14-1E39CF4C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81450"/>
            <a:ext cx="6429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81 点反射光谱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57AD1-B029-4B72-950A-7E18EC6C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638675"/>
            <a:ext cx="642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380–780 nm，间隔 5 nm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B5756-939D-4D78-8CB2-865CABDF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ONNX 前向推理与 PyTorch 梯度路线使用对应资源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21A31-B59C-4432-9EAB-40C76CDF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历史代理用于流程与候选探索，绝对物理精度尚未按修复后求解器重新验证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C8EE5-0832-4110-8F3B-21979B59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154663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A747B-7309-42FB-A857-84ED1F39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两阶段智能网格搜索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43FAF-9A7A-4BA8-B93B-30E85AF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当前模型范围内的候选筛选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70E2F-1394-481C-AD82-9FBD1CE6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粗网格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A9A18-7E94-4AB7-BB10-91D76663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8 × 8 ×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04AFB-7D95-452A-A650-A122598D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先检查几何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8D5B3-BF2E-4610-892A-D18CFCD1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种子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60F4-C1ED-4B4A-B1C4-8D32BA7C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Top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46959-07C8-4121-AA04-F68FC7CD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按 ΔE00 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BE014-F309-4283-A0C2-CD27BC0F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局部细化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5A91F-67DB-4757-BAA0-7A9BDA46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3 × 3 ×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D23B4-00D0-44F4-B1F9-2BF32DA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每轴 ±8 nm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475A1-647C-4850-8362-33863E0E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候选输出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9466D-F59A-42C3-9197-8FC07A96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多样性检查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BF843-3852-409D-8C58-DDDAE128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57575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舍入后复算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2DD2D-A489-4A3C-B768-5BB30222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04905-E4A7-4388-81BB-3CD66A8A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50–350 nm     H 80–600 nm     P 200–600 nm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E9449-1BF5-4E01-867C-AEB9F657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几何过滤：P ≥ 1.2D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5512E-E74B-4603-80F4-1F61F950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默认采样位置上限 512 + 81，最终候选另做复算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DE4AA-C094-4167-967A-508DD50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21351454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3B53D-2FC9-45D3-9939-AED7A007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真实候选案例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052B2-64D6-4023-B0CD-7FB6F800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TiO₂ / SiO₂，单柱，TE，0°；2026-10-06 保存结果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80B8A-2F55-43A6-9D56-A3991658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790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C8FF"/>
          </a:solidFill>
          <a:ln xmlns:a="http://schemas.openxmlformats.org/drawingml/2006/main" w="4763">
            <a:solidFill>
              <a:srgbClr val="ADB8C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B0338-A6E7-46A4-BDC9-32AC168E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8573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目标色 #80C8FF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06F59-F783-4A44-A210-44D05A2E1E5D}"/>
              </a:ext>
            </a:extLst>
          </p:cNvPr>
          <p:cNvGraphicFramePr/>
          <p:nvPr/>
        </p:nvGraphicFramePr>
        <p:xfrm>
          <a:off xmlns:a="http://schemas.openxmlformats.org/drawingml/2006/main" x="609600" y="26955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90600"/>
                <a:gridCol w="1743075"/>
                <a:gridCol w="1743075"/>
                <a:gridCol w="1743075"/>
                <a:gridCol w="2476500"/>
                <a:gridCol w="2276475"/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/ nm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 sRGB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ΔE00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350.0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511.5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484.9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#6C8895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21.67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316.7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369.6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454.5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#7E8A95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21.80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301.5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369.6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454.5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#678095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23.01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01918-598D-4D1D-8AF9-1082AB72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目标色与当前候选仍有明显差距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3FC02-2915-4ED0-A3D3-D3166CF4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来源：offline_flow_smart_20261006.json；色差衡量模型显示颜色与目标色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A7BBE-37F6-4DB8-9D0E-119D00D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374450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89FFC-8649-4A9E-89F1-40CBF9C5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审核参考光谱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8AFCC-E1B4-48B7-94A8-2361A069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记录 #4；TiO₂ / SiO₂ / air，p 偏振，0°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C8FC61F-6776-46E8-A69D-E05530EC96E0}"/>
              </a:ext>
            </a:extLst>
          </p:cNvPr>
          <p:cNvGraphicFramePr/>
          <p:nvPr/>
        </p:nvGraphicFramePr>
        <p:xfrm>
          <a:off xmlns:a="http://schemas.openxmlformats.org/drawingml/2006/main" x="590550" y="1857375"/>
          <a:ext xmlns:a="http://schemas.openxmlformats.org/drawingml/2006/main" cx="7658100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19999086c64ab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2A70C-13E6-4B08-9A9F-2C9C6D1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97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D / H / 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3A9BB-2A71-4DE4-BE44-4D32A977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384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140 / 281 / 407 nm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95E21-AF78-46F6-B5C3-512292A9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781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D49"/>
          </a:solidFill>
          <a:ln xmlns:a="http://schemas.openxmlformats.org/drawingml/2006/main" w="4763">
            <a:solidFill>
              <a:srgbClr val="ADB8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A9750-889D-492B-93EA-CB245035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43275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#242D49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00FC5-F1FB-4B59-B2D3-8C7DE081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05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最大 |R+T−1|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C0F70-10AE-45D4-9289-BBA31964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5297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3.67×10⁻¹³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1785C-CF92-4CCC-B07E-753792B7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81625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nG=151，Nxy=256</a:t>
            </a:r>
          </a:p>
          <a:p xmlns:a="http://schemas.openxmlformats.org/drawingml/2006/main">
            <a:pPr>
              <a:def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原始 81 点，5 nm 间隔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6AEC4-950E-469C-961A-B3C8814D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守恒不等同于 RCWA 收敛；图表采用 81 点，R 保留 6 位小数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843F3-AC17-4984-9444-071F0F4D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1369803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317E7-0B4F-489E-AE7A-ADE6AE8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颜色表达与色度复算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B230E-9A79-472B-9651-B3ADC62F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反射光谱结合 D65 与 CIE 1931，生成显示颜色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E42CE-97F7-4D80-B96A-8FC64D5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反射光谱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27E89-7944-4496-9B14-98AE394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240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81 点 R(λ)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16B31-B1B0-4C51-AEA6-56C7443E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XYZ 与色度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FA3BA-95D8-44FE-93AF-3A3DE084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90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D65，CIE 1931 2°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C64D6-D16C-40A6-AA0E-F13DDA65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sRGB 显示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702BC-AF70-4532-BF35-465558DA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576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矩阵变换与传递函数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A002B-E630-417D-A7DC-7ED620B6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AACFF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C5C2D-B7E6-4669-8681-BC2C59AA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24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CIEDE2000 色差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BABC1-E5AB-457D-ACAF-5866D19462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2d3cf4d294105"/>
          <a:stretch xmlns:a="http://schemas.openxmlformats.org/drawingml/2006/main"/>
        </p:blipFill>
        <p:spPr>
          <a:xfrm xmlns:a="http://schemas.openxmlformats.org/drawingml/2006/main">
            <a:off x="7664387" y="1762125"/>
            <a:ext cx="3445002" cy="39147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9146B-94F6-4A16-8AE3-7A5F717D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81025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真实交互页的 TE 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0DB9C-B658-4FBC-B340-008F2BAD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1.47×10⁻⁸ 是 sRGB 分量复算差异，不是 ΔE00 或实验误差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ED432-AB01-41A6-A81E-CC922329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87721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4D96D-FFD2-4BBD-8884-788A9BCF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图案映射与文件导出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A8277-C84F-4F70-8CDA-3935FED3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独立单柱解析路线，按 Lab 近邻匹配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73B6B-55C4-4E11-AF93-8DAE5127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EA73E-260D-4A83-AE0A-766F32C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0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图像缩放后提取像素颜色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76E5-DF52-4D87-BFAD-480705AF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结构参数阵列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0E976-D073-447E-97E7-1966A0C0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D / H / P 对应每个输出像素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02DC8-1A87-47E5-85D9-99F9323F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PNG / CSV / JSON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E8716-3471-4DB9-9A05-66AD98841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52d25b9ed440c"/>
          <a:stretch xmlns:a="http://schemas.openxmlformats.org/drawingml/2006/main"/>
        </p:blipFill>
        <p:spPr>
          <a:xfrm xmlns:a="http://schemas.openxmlformats.org/drawingml/2006/main">
            <a:off x="4591050" y="1922031"/>
            <a:ext cx="6924675" cy="389976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A848D-DBA0-43F0-8278-FBE8FAC2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截图为 4×3 功能测试图；输出参数仍需工艺与物理复核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92BC6-5E78-42EF-8873-3981EE8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775332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44F27-BFF4-4909-AF6A-DF0530A4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数据审核与软件验证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CBEE1-18E2-42BC-B545-503029F5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物理数据检查与功能测试分别报告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FFC2C-1708-43C2-9E31-5A06BE4A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21,088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0EA7A-03B2-478A-89D2-EA9FA13E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审核参考记录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32694-4EFE-4609-BD14-CE769C93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253A8-995D-4F2B-990D-F42D9503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无效记录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C4B00-C133-4017-8495-7EAF75F8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524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1.79×10⁻⁷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B8248-8C60-4387-8ECF-BEBFD48D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574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最大点级 |R+T−1|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FE3F0-B7A5-4AF1-A540-CF168242FC80}"/>
              </a:ext>
            </a:extLst>
          </p:cNvPr>
          <p:cNvGraphicFramePr/>
          <p:nvPr/>
        </p:nvGraphicFramePr>
        <p:xfrm>
          <a:off xmlns:a="http://schemas.openxmlformats.org/drawingml/2006/main" x="609600" y="3581400"/>
          <a:ext xmlns:a="http://schemas.openxmlformats.org/drawingml/2006/main" cx="10972800" cy="2105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143500"/>
                <a:gridCol w="3733800"/>
              </a:tblGrid>
              <a:tr h="701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检查层级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已保存结果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数据与颜色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字段、81 点、有限值、守恒及复算通过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TiO₂ / SiO₂ / air，p，0°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运行与流程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 项运行检查；19 项应用流程通过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2026-10-06 离线版本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A8826-AF74-4CB2-AD43-83F8CE8B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来源：本地审计 JSON；分辨率设置不构成收敛声明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29750-2F9E-4956-9690-6CDC80D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5177328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DEB10-F4E2-4760-8418-4A76EC08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同类工作流对比与软件创新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0374D-68DA-4A0D-A093-6657F3AC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按工作流能力比较，不宣称未经测试的性能领先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63747-5E6B-4DFB-8502-128421739EA8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2667000"/>
                <a:gridCol w="2667000"/>
                <a:gridCol w="3562350"/>
              </a:tblGrid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设计环节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分散脚本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单一预测工具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6D5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本系统</a:t>
                      </a:r>
                    </a:p>
                  </a:txBody>
                  <a:tcPr marL="152400" marR="152400" marT="142875" marB="142875" anchor="ctr">
                    <a:solidFill>
                      <a:srgbClr val="202936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输入与模型条件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由使用者传递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依赖工具约定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上下文与资源检查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结果表达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需额外整合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多为单一结果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多候选、光谱与色度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结果复用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手工整理文件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依赖单独实现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6F8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导出与上下文绑定</a:t>
                      </a:r>
                    </a:p>
                  </a:txBody>
                  <a:tcPr marL="152400" marR="152400" marT="142875" marB="142875" anchor="ctr">
                    <a:solidFill>
                      <a:srgbClr val="0C111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6AD34-B498-44C9-ACFB-13AEE250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约束搜索与候选复算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FB4E7-6D74-4432-8092-F1E84BC3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219700"/>
            <a:ext cx="5438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模型资源与结果上下文绑定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C6F84-72F1-4772-BFA3-2F94CC1E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对比对象是常见工作流形态；核心算法与工具的已有来源见备注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908BA-70D8-4D1A-B464-D9E2CFE8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8185022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89739-B0F1-4044-9E66-F0A4EE0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应用场景与推广路径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DF46F-CA72-4D1B-9322-DC5A265D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先服务教学和早期筛选，再验证器件应用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401BB-3DA4-481C-9F92-2BE515BE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光学教学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71531-FA98-45C8-A924-B1833BE9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867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理解参数、光谱与颜色的关系</a:t>
            </a:r>
          </a:p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用现有参考记录做可复核案例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0A2B2-BA62-43ED-8D4B-FA147114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43100"/>
            <a:ext cx="5210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8D5AD"/>
                </a:solidFill>
                <a:latin typeface="Microsoft YaHei"/>
                <a:ea typeface="Microsoft YaHei"/>
                <a:cs typeface="Microsoft YaHei"/>
              </a:rPr>
              <a:t>早期方案筛选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76406-1B03-4219-B3D4-AEE0D7BC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76525"/>
            <a:ext cx="5210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比较候选并导出结构数据</a:t>
            </a:r>
          </a:p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交给统一物理或实验验证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97D9D-E7BC-45CD-A069-77FBD51C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5B27E-6A27-4F5F-8A92-5FBB42FB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01  离线示例与教程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41FB8-4E31-432D-99DC-AF32F217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02  小规模任务试用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E4CD8-8938-44BD-90C1-65B5EE8C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29150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03  工艺与实验闭环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13D4B-2BBA-4DAC-8B27-B1600D4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87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后续试用拟记录完成时间、失败原因和用户反馈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627B0-90AC-46CF-AEC8-5F8A0CB1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1033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推广步骤为计划，当前没有试点效果或商业收入声明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28414-4F4B-4B0E-B460-4EEDFF3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3337230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C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44C64-4535-49E4-A052-381F2951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总结与下一步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5FB96-C470-446F-98A3-CB2CE92E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目标颜色、候选结构、光谱色度和导出形成完整软件流程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CF119-25D2-4083-8C80-FE431675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6D5E9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D914C-02A3-4CA7-BB1C-39BE822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62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本地交互、候选搜索、分析与导出</a:t>
            </a:r>
          </a:p>
          <a:p xmlns:a="http://schemas.openxmlformats.org/drawingml/2006/main">
            <a:pPr>
              <a:def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参考数据审核与真实功能检查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EC471-A295-4882-9D01-8C028CAC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D173"/>
                </a:solidFill>
                <a:latin typeface="Microsoft YaHei"/>
                <a:ea typeface="Microsoft YaHei"/>
                <a:cs typeface="Microsoft YaHei"/>
              </a:rPr>
              <a:t>待完善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35F83-662B-46AF-94F8-5E1115C4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0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模型覆盖与候选匹配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制造约束、任务试用及实验验证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51C67-30E9-4A79-B4C4-88D8BB32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6F8FC"/>
                </a:solidFill>
                <a:latin typeface="Microsoft YaHei"/>
                <a:ea typeface="Microsoft YaHei"/>
                <a:cs typeface="Microsoft YaHei"/>
              </a:rPr>
              <a:t>404 Not Found队   谢谢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D6DC1-381D-407E-8CBA-9885FA29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DB8C7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332319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2026-10-09T14:47:14.1940000Z</dcterms:created>
  <dcterms:modified xsi:type="dcterms:W3CDTF">2026-10-09T14:47:14.1940000Z</dcterms:modified>
</coreProperties>
</file>