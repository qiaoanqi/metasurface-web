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eaba14cda949f3" /><Relationship Type="http://schemas.openxmlformats.org/officeDocument/2006/relationships/extended-properties" Target="/docProps/app.xml" Id="R12d2ac3dc5de4963" /><Relationship Type="http://schemas.openxmlformats.org/officeDocument/2006/relationships/officeDocument" Target="/ppt/presentation.xml" Id="R053b0f24655841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bde9a11249422a"/>
  </p:sldMasterIdLst>
  <p:notesMasterIdLst>
    <p:notesMasterId xmlns:r="http://schemas.openxmlformats.org/officeDocument/2006/relationships" r:id="R9b63b213b3ca46cc"/>
  </p:notesMasterIdLst>
  <p:sldIdLst>
    <p:sldId xmlns:r="http://schemas.openxmlformats.org/officeDocument/2006/relationships" id="256" r:id="R2d3378f1bacf4dd2"/>
    <p:sldId xmlns:r="http://schemas.openxmlformats.org/officeDocument/2006/relationships" id="257" r:id="Ra689cdf9fee7442d"/>
    <p:sldId xmlns:r="http://schemas.openxmlformats.org/officeDocument/2006/relationships" id="258" r:id="R9ee3228964744426"/>
    <p:sldId xmlns:r="http://schemas.openxmlformats.org/officeDocument/2006/relationships" id="259" r:id="R0e8df07c4ed84d19"/>
    <p:sldId xmlns:r="http://schemas.openxmlformats.org/officeDocument/2006/relationships" id="260" r:id="R96b630cedf334716"/>
    <p:sldId xmlns:r="http://schemas.openxmlformats.org/officeDocument/2006/relationships" id="261" r:id="Reea55ac4295842cd"/>
    <p:sldId xmlns:r="http://schemas.openxmlformats.org/officeDocument/2006/relationships" id="262" r:id="R0361502b8a5c4432"/>
    <p:sldId xmlns:r="http://schemas.openxmlformats.org/officeDocument/2006/relationships" id="263" r:id="R2ed0f952cba94149"/>
    <p:sldId xmlns:r="http://schemas.openxmlformats.org/officeDocument/2006/relationships" id="264" r:id="Reaf9b300611149b2"/>
    <p:sldId xmlns:r="http://schemas.openxmlformats.org/officeDocument/2006/relationships" id="265" r:id="Rd940a240dd7843f1"/>
    <p:sldId xmlns:r="http://schemas.openxmlformats.org/officeDocument/2006/relationships" id="266" r:id="R7beabedb89b84854"/>
    <p:sldId xmlns:r="http://schemas.openxmlformats.org/officeDocument/2006/relationships" id="267" r:id="R5df5beadca454227"/>
    <p:sldId xmlns:r="http://schemas.openxmlformats.org/officeDocument/2006/relationships" id="268" r:id="Rbc38e6c64b984c9a"/>
    <p:sldId xmlns:r="http://schemas.openxmlformats.org/officeDocument/2006/relationships" id="269" r:id="Ra2d9258d0b724746"/>
    <p:sldId xmlns:r="http://schemas.openxmlformats.org/officeDocument/2006/relationships" id="270" r:id="R1483021f059b4b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7928a66de46ac" /><Relationship Type="http://schemas.openxmlformats.org/officeDocument/2006/relationships/slideMaster" Target="/ppt/slideMasters/slideMaster1.xml" Id="R8fbde9a11249422a" /><Relationship Type="http://schemas.openxmlformats.org/officeDocument/2006/relationships/notesMaster" Target="/ppt/notesMasters/notesMaster1.xml" Id="R9b63b213b3ca46cc" /><Relationship Type="http://schemas.openxmlformats.org/officeDocument/2006/relationships/presProps" Target="/ppt/presProps.xml" Id="R9722406d4c6d425a" /><Relationship Type="http://schemas.openxmlformats.org/officeDocument/2006/relationships/tableStyles" Target="/ppt/tableStyles.xml" Id="R118e977b518243f6" /><Relationship Type="http://schemas.openxmlformats.org/officeDocument/2006/relationships/slide" Target="/ppt/slides/slide1.xml" Id="R2d3378f1bacf4dd2" /><Relationship Type="http://schemas.openxmlformats.org/officeDocument/2006/relationships/slide" Target="/ppt/slides/slide2.xml" Id="Ra689cdf9fee7442d" /><Relationship Type="http://schemas.openxmlformats.org/officeDocument/2006/relationships/slide" Target="/ppt/slides/slide3.xml" Id="R9ee3228964744426" /><Relationship Type="http://schemas.openxmlformats.org/officeDocument/2006/relationships/slide" Target="/ppt/slides/slide4.xml" Id="R0e8df07c4ed84d19" /><Relationship Type="http://schemas.openxmlformats.org/officeDocument/2006/relationships/slide" Target="/ppt/slides/slide5.xml" Id="R96b630cedf334716" /><Relationship Type="http://schemas.openxmlformats.org/officeDocument/2006/relationships/slide" Target="/ppt/slides/slide6.xml" Id="Reea55ac4295842cd" /><Relationship Type="http://schemas.openxmlformats.org/officeDocument/2006/relationships/slide" Target="/ppt/slides/slide7.xml" Id="R0361502b8a5c4432" /><Relationship Type="http://schemas.openxmlformats.org/officeDocument/2006/relationships/slide" Target="/ppt/slides/slide8.xml" Id="R2ed0f952cba94149" /><Relationship Type="http://schemas.openxmlformats.org/officeDocument/2006/relationships/slide" Target="/ppt/slides/slide9.xml" Id="Reaf9b300611149b2" /><Relationship Type="http://schemas.openxmlformats.org/officeDocument/2006/relationships/slide" Target="/ppt/slides/slide10.xml" Id="Rd940a240dd7843f1" /><Relationship Type="http://schemas.openxmlformats.org/officeDocument/2006/relationships/slide" Target="/ppt/slides/slide11.xml" Id="R7beabedb89b84854" /><Relationship Type="http://schemas.openxmlformats.org/officeDocument/2006/relationships/slide" Target="/ppt/slides/slide12.xml" Id="R5df5beadca454227" /><Relationship Type="http://schemas.openxmlformats.org/officeDocument/2006/relationships/slide" Target="/ppt/slides/slide13.xml" Id="Rbc38e6c64b984c9a" /><Relationship Type="http://schemas.openxmlformats.org/officeDocument/2006/relationships/slide" Target="/ppt/slides/slide14.xml" Id="Ra2d9258d0b724746" /><Relationship Type="http://schemas.openxmlformats.org/officeDocument/2006/relationships/slide" Target="/ppt/slides/slide15.xml" Id="R1483021f059b4b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848d182e44c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21bf79d4d4f12" /><Relationship Type="http://schemas.openxmlformats.org/officeDocument/2006/relationships/notesMaster" Target="/ppt/notesMasters/notesMaster1.xml" Id="R14b9eb076f5941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750c564f64c6c" /><Relationship Type="http://schemas.openxmlformats.org/officeDocument/2006/relationships/notesMaster" Target="/ppt/notesMasters/notesMaster1.xml" Id="Raa29f52bcc0d4c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37db05c398443b" /><Relationship Type="http://schemas.openxmlformats.org/officeDocument/2006/relationships/notesMaster" Target="/ppt/notesMasters/notesMaster1.xml" Id="Rccca7a980652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2ae263312e41fa" /><Relationship Type="http://schemas.openxmlformats.org/officeDocument/2006/relationships/notesMaster" Target="/ppt/notesMasters/notesMaster1.xml" Id="R0d0423fae3234b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d84c15137a4131" /><Relationship Type="http://schemas.openxmlformats.org/officeDocument/2006/relationships/notesMaster" Target="/ppt/notesMasters/notesMaster1.xml" Id="Rcd433c6f60e14d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eb7b22fd114929" /><Relationship Type="http://schemas.openxmlformats.org/officeDocument/2006/relationships/notesMaster" Target="/ppt/notesMasters/notesMaster1.xml" Id="Rf67e4181897446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f4988e438747b2" /><Relationship Type="http://schemas.openxmlformats.org/officeDocument/2006/relationships/notesMaster" Target="/ppt/notesMasters/notesMaster1.xml" Id="R493418e24a3747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39baa2a2c24944" /><Relationship Type="http://schemas.openxmlformats.org/officeDocument/2006/relationships/notesMaster" Target="/ppt/notesMasters/notesMaster1.xml" Id="Rb07e6362bb5a4a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e9ed93ef404b02" /><Relationship Type="http://schemas.openxmlformats.org/officeDocument/2006/relationships/notesMaster" Target="/ppt/notesMasters/notesMaster1.xml" Id="R670501557ff249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6e642ec89140eb" /><Relationship Type="http://schemas.openxmlformats.org/officeDocument/2006/relationships/notesMaster" Target="/ppt/notesMasters/notesMaster1.xml" Id="Rca19cc74db474a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7ce3cf101f41f0" /><Relationship Type="http://schemas.openxmlformats.org/officeDocument/2006/relationships/notesMaster" Target="/ppt/notesMasters/notesMaster1.xml" Id="Re6135822fdd742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30ced54e9341c8" /><Relationship Type="http://schemas.openxmlformats.org/officeDocument/2006/relationships/notesMaster" Target="/ppt/notesMasters/notesMaster1.xml" Id="R4ac7a92ba60642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f3c20398034112" /><Relationship Type="http://schemas.openxmlformats.org/officeDocument/2006/relationships/notesMaster" Target="/ppt/notesMasters/notesMaster1.xml" Id="R6277468db7ba42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ac55ecd9c5430c" /><Relationship Type="http://schemas.openxmlformats.org/officeDocument/2006/relationships/notesMaster" Target="/ppt/notesMasters/notesMaster1.xml" Id="Rb86bbcae7a5b4a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cf20a139334807" /><Relationship Type="http://schemas.openxmlformats.org/officeDocument/2006/relationships/notesMaster" Target="/ppt/notesMasters/notesMaster1.xml" Id="R7c25a7ae970940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</a:t>
            </a:r>
          </a:p>
          <a:p xmlns:a="http://schemas.openxmlformats.org/drawingml/2006/main">
            <a:r>
              <a:t>各位评委老师好，我是404 Not Found队的主讲人。我们汇报的作品是AI超表面结构色智能设计系统，参赛方向是AI+软件创新。项目面向微纳光学的早期设计，把目标颜色、候选结构、光谱分析和结果导出放在一个本地可运行的软件中。接下来重点介绍软件如何结合AI，以及我们用什么证据验证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output/playwright/main8503-preview-1440.png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25 秒</a:t>
            </a:r>
          </a:p>
          <a:p xmlns:a="http://schemas.openxmlformats.org/drawingml/2006/main">
            <a:r>
              <a:t>团队成员为乔安琪、陈雍杰和郭千弘。我负责核心算法、系统开发和本次主讲。陈雍杰负责UI设计，郭千弘负责PPT制作。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用户确认的成员与实际贡献</a:t>
            </a:r>
          </a:p>
          <a:p xmlns:a="http://schemas.openxmlformats.org/drawingml/2006/main">
            <a:r>
              <a:t>校赛通知附件名单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结构色来自微纳结构对不同波长光的响应，改变直径、高度和周期，颜色就可能发生变化。早期设计者往往先有一个目标颜色，却不知道从哪组参数开始。只看到一个HEX色值，又无法判断光谱形状和结果来源。项目要解决的是这一段工作流：快速提出候选，让用户看到参数、光谱和色差，并把结果带走继续复核。我们的需求分析来自设计流程与项目实践，当前没有把它包装成大规模用户调研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这张图来自已保存的真实离线界面。用户先选结构、材料、偏振和角度，再输入目标色并运行搜索。得到候选后，可以应用到预览页，继续查看光谱或导出数据。预览、逆设计、图案、映射、光谱共五个页面，围绕同一参数上下文工作。这里强调的是可用的软件流程。后面会单独说明候选的质量和参考数据，避免把“按钮运行成功”当作物理精度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.state/ui_previews/offline_smart_grid_verified_20261006.png</a:t>
            </a:r>
          </a:p>
          <a:p xmlns:a="http://schemas.openxmlformats.org/drawingml/2006/main">
            <a:r>
              <a:t>.state/offline_real_app_flows_final_20261006.json</a:t>
            </a:r>
          </a:p>
          <a:p xmlns:a="http://schemas.openxmlformats.org/drawingml/2006/main">
            <a:r>
              <a:t>output/playwright/main8503-preview-1440.png</a:t>
            </a:r>
          </a:p>
          <a:p xmlns:a="http://schemas.openxmlformats.org/drawingml/2006/main">
            <a:r>
              <a:t>.state/ui_previews/offline_pattern_verified_20261006.png</a:t>
            </a:r>
          </a:p>
          <a:p xmlns:a="http://schemas.openxmlformats.org/drawingml/2006/main">
            <a:r>
              <a:t>.state/offline_flow_mapping_single_20261006.json</a:t>
            </a:r>
          </a:p>
          <a:p xmlns:a="http://schemas.openxmlformats.org/drawingml/2006/main">
            <a:r>
              <a:t>output/playwright/main8503-spectrum-1440.png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右侧为五页功能索引。缩略图来自已保存界面，映射色格使用2026-10-06的48格解析路线存档，未重新仿真。不同页面示例不作为同一次结果或同一物理路线的对照。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系统分为界面、计算路由、颜色表达和结果导出几个部分。路由首先检查结构、材料、衬底以及入射条件，再决定使用注册代理模型、解析近似或腔体TMM。每个结果带有模型版本和适用范围。修改参数后，旧候选和旧分析不能继续冒充新条件下的结果。资源不匹配时，只有独立实现且明确标注的基线路线可以回落，否则就返回不可用。这样把能力边界落实到程序行为，而不是只在文档里写一行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app.py</a:t>
            </a:r>
          </a:p>
          <a:p xmlns:a="http://schemas.openxmlformats.org/drawingml/2006/main">
            <a:r>
              <a:t>ui_forward_routes.py</a:t>
            </a:r>
          </a:p>
          <a:p xmlns:a="http://schemas.openxmlformats.org/drawingml/2006/main">
            <a:r>
              <a:t>ui_inverse_contracts.py</a:t>
            </a:r>
          </a:p>
          <a:p xmlns:a="http://schemas.openxmlformats.org/drawingml/2006/main">
            <a:r>
              <a:t>ui_model_resources.py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AI部分采用残差多层感知机ResMLP。七个输入包括直径、高度、周期、入射角，以及偏振、材料和衬底编码，输出为380到780纳米的81点反射光谱。典型实现使用256维隐藏层和4个残差块，运行时按实际权重确认。ONNX承担CPU前向推理，PyTorch支持梯度搜索，部分路线对多个注册模型取均值。搜索在预测光谱上寻找候选。现有代理来自历史训练资源，早期求解器与背景口径存在已记录风险，绝对物理精度尚未按修复后的求解器重新验证。新审核参考库与它分开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torch_model.py:_RCWA_ResMLP</a:t>
            </a:r>
          </a:p>
          <a:p xmlns:a="http://schemas.openxmlformats.org/drawingml/2006/main">
            <a:r>
              <a:t>ml_module.py:_get_rcwa_sessions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</a:t>
            </a:r>
          </a:p>
          <a:p xmlns:a="http://schemas.openxmlformats.org/drawingml/2006/main">
            <a:r>
              <a:t>智能网格采用两阶段搜索。第一阶段在图中尺寸范围生成8乘8乘8网格，排除周期小于1.2倍直径的结构，再按CIEDE2000色差保留三个种子。第二阶段在每个种子附近采用正负8纳米的三档偏移，生成3乘3乘3邻域。最后排序、去重，并对舍入后的参数重新计算颜色。512加81表示过滤前采样位置上限，实际评估还受几何过滤与复算影响。这种方式把搜索范围和排序依据落实到程序中，但没有全局最优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ml_module.py:smart_grid_search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这组结果来自10月6日保存的真实候选JSON。目标为浅蓝色80C8FF，条件是TiO2、SiO2、单柱、TE和零度。第一名的直径350、高度511.5、周期484.9纳米，预测颜色为6C8895，色差约21.67，和目标仍有明显差距。软件完成了搜索、排序、应用和导出，同时把当前候选质量展示出来。这条案例验证的是工作流，不是高精度颜色匹配。用户还可以比较其他条件，候选在制造之前仍需要统一物理口径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.state/offline_flow_smart_20261006.json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下面是独立的审核参考记录，和上一页代理候选不是同一条结果。记录编号4，几何参数140、281、407纳米，条件是TiO2、SiO2、空气背景、p偏振、零度入射。图中绘出原始81个反射率点，显示颜色约为242D49。这条记录的最大R加T减1误差约为3.67乘10的负13次方。它证明该条数据的守恒和颜色转换能复核，但不代表nG151和Nxy256已经完成所有分辨率的收敛验证，也不代表代理模型在这个记录上有同样的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competition/tio2_air_reference_records_v1.jsonl</a:t>
            </a:r>
          </a:p>
          <a:p xmlns:a="http://schemas.openxmlformats.org/drawingml/2006/main">
            <a:r>
              <a:t>competition/tio2_air_day_audit_20260930.json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颜色显示使用统一的色度学转换。反射光谱结合D65光源和CIE1931二度配色函数得到XYZ，再得到色度坐标和sRGB显示颜色，候选用CIEDE2000排序。右侧是真实交互页的CIE图，这里是TE路线的界面示例，不与前面的p偏振参考记录混用。21088条参考数据的独立颜色复算中，最大sRGB分量差约1.47乘10的负8次方。这个数字是存储颜色和复算颜色的数值一致性，不是目标色差，也不是实验精度。显示器、光源与制造后的器件仍可能带来额外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color_utils.py</a:t>
            </a:r>
          </a:p>
          <a:p xmlns:a="http://schemas.openxmlformats.org/drawingml/2006/main">
            <a:r>
              <a:t>competition/tio2_air_day_color_audit_20260930.json</a:t>
            </a:r>
          </a:p>
          <a:p xmlns:a="http://schemas.openxmlformats.org/drawingml/2006/main">
            <a:r>
              <a:t>output/playwright/main8503-spectrum-1440.png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图案功能把输入图像映射为结构参数阵列。右侧是保存的本地功能检查截图，使用一个4乘3像素测试图，能够生成输入和映射结果。当前这条路线采用精确注册的单柱解析颜色库，在Lab空间做近邻匹配，和前面神经网络的两阶段搜索独立。它可以导出PNG映射图、CSV参数表和JSON上下文信息。图案颜色没有在此承诺完全复原，也没有通过制造工艺验证，所以我们把输出定位为参数数据，不写成可直接交付电子束曝光的制造版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.state/ui_previews/offline_light_pattern_verified_20261006.png</a:t>
            </a:r>
          </a:p>
          <a:p xmlns:a="http://schemas.openxmlformats.org/drawingml/2006/main">
            <a:r>
              <a:t>ui_pattern_contracts.py</a:t>
            </a:r>
          </a:p>
          <a:p xmlns:a="http://schemas.openxmlformats.org/drawingml/2006/main">
            <a:r>
              <a:t>output/playwright/main8503-final-exports-20260824/metadata.json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测试分为两层。第一层是参考数据审核，共21088条记录、21083组独立几何，五组重复输出相同，无字段、形状、有限值、几何和守恒检查异常。最大点级守恒误差约1.79乘10的负7次方。第二层是软件运行检查，10月6日的存档包含27项实际运行检查和19项真实应用流程检查，覆盖模型资源、搜索应用、导出、参考查询、主题和分析页面。它们使用实际模型，没有伪造返回值。测试证明已记录版本的软件链路能执行，颜色转换一致，不能外推为全材料、全条件的模型准确率，也不能代替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competition/tio2_air_day_audit_20260930.json</a:t>
            </a:r>
          </a:p>
          <a:p xmlns:a="http://schemas.openxmlformats.org/drawingml/2006/main">
            <a:r>
              <a:t>competition/tio2_air_day_color_audit_20260930.json</a:t>
            </a:r>
          </a:p>
          <a:p xmlns:a="http://schemas.openxmlformats.org/drawingml/2006/main">
            <a:r>
              <a:t>.state/offline_feature_runtime_audit_final_20261006.json</a:t>
            </a:r>
          </a:p>
          <a:p xmlns:a="http://schemas.openxmlformats.org/drawingml/2006/main">
            <a:r>
              <a:t>.state/offline_real_app_flows_final_20261006.json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与常见的脚本工作流和只返回单个预测值的工具相比，本项目把候选、光谱、色度和导出连到同一上下文中。表格比较的是工作流形态，不是没有测过的竞品速度。贡献主要有两方面：第一，把代理预测接入有几何约束、色差排序和候选复算的搜索流程。第二，把模型资源、结果上下文和导出文件绑定起来，避免换了材料或偏振却继续展示旧结果。ResMLP、RCWA和CIEDE2000本身是已有方法，我们不声称发明这些算法。项目创新集中在AI软件的组合实现、可追溯性和使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ui_inverse_contracts.py</a:t>
            </a:r>
          </a:p>
          <a:p xmlns:a="http://schemas.openxmlformats.org/drawingml/2006/main">
            <a:r>
              <a:t>ml_module.py</a:t>
            </a:r>
          </a:p>
          <a:p xmlns:a="http://schemas.openxmlformats.org/drawingml/2006/main">
            <a:r>
              <a:t>ui_analysis_snapshots.py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近期最合适的应用是光学课程演示和早期方案筛选。在教学中，学生改变几何参数，观察光谱与颜色如何关联；在研究前期，使用候选表和导出文件减少跨脚本整理。推广计划先提供离线包和示例教程，再做小规模任务试用，记录用户完成时间、失败原因与反馈。结构色标识和微纳图案是后续方向，需要补齐制造约束、统一物理复核与实验样品。我们目前没有用户试点、收入或专利数据，因此只介绍可行路径，不把应用潜力写成已经完成的商业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competition/11_本地离线演示说明.md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</a:t>
            </a:r>
          </a:p>
          <a:p xmlns:a="http://schemas.openxmlformats.org/drawingml/2006/main">
            <a:r>
              <a:t>总结来说，项目已把目标色搜索、光谱色度分析、图案映射和导出做成了本地软件，并用现有参考审计与真实功能记录支撑它。当前的不足是模型覆盖和目标色匹配仍有限，双柱ONNX与完整制造验证也没有补齐。下一步按统一口径扩充可审核资源，开展任务试用，再推动物理与实验闭环。我们希望这套软件先成为早期设计者能使用、能检查、能继续复核的工具。谢谢各位老师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competition/14_离线功能核对.md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84f65baaf4b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d9b88df3b4b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d48ae987844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774ed60b340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5b237dad847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08b18528548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2F3E28-8A93-42CD-A221-B7ED3AC74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5780D7-C22C-4EB8-9403-247058641C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AA64FF-D87E-4DED-9E1C-513A3B333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347A0E-F3DC-4E81-B02F-BD4298248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8C90FF-E433-451B-A41F-BC45E6418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598024-A586-4D4A-B9FF-B219F2D67E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E32939-FAFF-4AC2-9753-B710BF8849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21AEE3-04BA-4771-B085-86696C2C93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D5E708-9B0A-4080-8BCA-C9A66C6928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FE689-1E8B-4873-8FC4-336A4D06DE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2ec8feec5d40e0" /><Relationship Type="http://schemas.openxmlformats.org/officeDocument/2006/relationships/slideLayout" Target="/ppt/slideLayouts/slideLayout1.xml" Id="R09195504580f4af6" /><Relationship Type="http://schemas.openxmlformats.org/officeDocument/2006/relationships/slideLayout" Target="/ppt/slideLayouts/slideLayout2.xml" Id="R53d3f7f5782c45e9" /><Relationship Type="http://schemas.openxmlformats.org/officeDocument/2006/relationships/slideLayout" Target="/ppt/slideLayouts/slideLayout3.xml" Id="R19d42d090e804abc" /><Relationship Type="http://schemas.openxmlformats.org/officeDocument/2006/relationships/slideLayout" Target="/ppt/slideLayouts/slideLayout4.xml" Id="Rc296950cf3cc4e41" /><Relationship Type="http://schemas.openxmlformats.org/officeDocument/2006/relationships/slideLayout" Target="/ppt/slideLayouts/slideLayout5.xml" Id="Rad1d8f631e874119" /><Relationship Type="http://schemas.openxmlformats.org/officeDocument/2006/relationships/slideLayout" Target="/ppt/slideLayouts/slideLayout6.xml" Id="R9c64cd8113ba45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95504580f4af6"/>
    <p:sldLayoutId xmlns:r="http://schemas.openxmlformats.org/officeDocument/2006/relationships" id="2147483650" r:id="R53d3f7f5782c45e9"/>
    <p:sldLayoutId xmlns:r="http://schemas.openxmlformats.org/officeDocument/2006/relationships" id="2147483651" r:id="R19d42d090e804abc"/>
    <p:sldLayoutId xmlns:r="http://schemas.openxmlformats.org/officeDocument/2006/relationships" id="2147483652" r:id="Rc296950cf3cc4e41"/>
    <p:sldLayoutId xmlns:r="http://schemas.openxmlformats.org/officeDocument/2006/relationships" id="2147483653" r:id="Rad1d8f631e874119"/>
    <p:sldLayoutId xmlns:r="http://schemas.openxmlformats.org/officeDocument/2006/relationships" id="2147483654" r:id="R9c64cd8113ba45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e33703f36428a" /><Relationship Type="http://schemas.openxmlformats.org/officeDocument/2006/relationships/image" Target="/ppt/media/image.png" Id="Rbdb03515c73d427d" /><Relationship Type="http://schemas.openxmlformats.org/officeDocument/2006/relationships/notesSlide" Target="/ppt/notesSlides/notesSlide1.xml" Id="Rcb4b78fdd08f4b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274d0d87f44c7" /><Relationship Type="http://schemas.openxmlformats.org/officeDocument/2006/relationships/notesSlide" Target="/ppt/notesSlides/notesSlide2.xml" Id="Rf9b42dd556124c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c8231885d491d" /><Relationship Type="http://schemas.openxmlformats.org/officeDocument/2006/relationships/notesSlide" Target="/ppt/notesSlides/notesSlide3.xml" Id="R9aa7900a9be645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a59126aad4602" /><Relationship Type="http://schemas.openxmlformats.org/officeDocument/2006/relationships/image" Target="/ppt/media/image2.png" Id="Ra114eada15764d80" /><Relationship Type="http://schemas.openxmlformats.org/officeDocument/2006/relationships/image" Target="/ppt/media/image3.png" Id="R88a4fa197f554714" /><Relationship Type="http://schemas.openxmlformats.org/officeDocument/2006/relationships/image" Target="/ppt/media/image4.png" Id="R09115425cb044d87" /><Relationship Type="http://schemas.openxmlformats.org/officeDocument/2006/relationships/image" Target="/ppt/media/image5.png" Id="Ra67f3f9d73554c09" /><Relationship Type="http://schemas.openxmlformats.org/officeDocument/2006/relationships/image" Target="/ppt/media/image6.png" Id="R5c67675222aa4c11" /><Relationship Type="http://schemas.openxmlformats.org/officeDocument/2006/relationships/notesSlide" Target="/ppt/notesSlides/notesSlide4.xml" Id="R130324a36f0a48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d029d454040f4" /><Relationship Type="http://schemas.openxmlformats.org/officeDocument/2006/relationships/notesSlide" Target="/ppt/notesSlides/notesSlide5.xml" Id="Ra359e956edb749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38e24f6fc4f1b" /><Relationship Type="http://schemas.openxmlformats.org/officeDocument/2006/relationships/notesSlide" Target="/ppt/notesSlides/notesSlide6.xml" Id="Rc295ee7099684f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17b12650b4666" /><Relationship Type="http://schemas.openxmlformats.org/officeDocument/2006/relationships/notesSlide" Target="/ppt/notesSlides/notesSlide7.xml" Id="Rb2517d60da094b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8397858414932" /><Relationship Type="http://schemas.openxmlformats.org/officeDocument/2006/relationships/notesSlide" Target="/ppt/notesSlides/notesSlide8.xml" Id="R30520664cfb348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7d66d31dd4b11" /><Relationship Type="http://schemas.openxmlformats.org/officeDocument/2006/relationships/chart" Target="/ppt/slides/charts/chart1.xml" Id="R4befed4c25d649f6" /><Relationship Type="http://schemas.openxmlformats.org/officeDocument/2006/relationships/notesSlide" Target="/ppt/notesSlides/notesSlide9.xml" Id="R9e75d995b9d646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e859d93e54816" /><Relationship Type="http://schemas.openxmlformats.org/officeDocument/2006/relationships/image" Target="/ppt/media/image7.png" Id="R0c40111469e14658" /><Relationship Type="http://schemas.openxmlformats.org/officeDocument/2006/relationships/notesSlide" Target="/ppt/notesSlides/notesSlide10.xml" Id="R968ec9566a884a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5db70d69e4768" /><Relationship Type="http://schemas.openxmlformats.org/officeDocument/2006/relationships/image" Target="/ppt/media/image8.png" Id="Rfad34267f40e4401" /><Relationship Type="http://schemas.openxmlformats.org/officeDocument/2006/relationships/notesSlide" Target="/ppt/notesSlides/notesSlide11.xml" Id="R91eb4d031b8e4d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75220b0734dcb" /><Relationship Type="http://schemas.openxmlformats.org/officeDocument/2006/relationships/notesSlide" Target="/ppt/notesSlides/notesSlide12.xml" Id="R0a2f9cdea7b94e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882141bb3425b" /><Relationship Type="http://schemas.openxmlformats.org/officeDocument/2006/relationships/notesSlide" Target="/ppt/notesSlides/notesSlide13.xml" Id="R14a946e9a31445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2394cbd7c4db2" /><Relationship Type="http://schemas.openxmlformats.org/officeDocument/2006/relationships/notesSlide" Target="/ppt/notesSlides/notesSlide14.xml" Id="R08f506382fe141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a1d410e3947cb" /><Relationship Type="http://schemas.openxmlformats.org/officeDocument/2006/relationships/notesSlide" Target="/ppt/notesSlides/notesSlide15.xml" Id="R28298d19bb4b494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反射率 R</c:v>
          </c:tx>
          <c:spPr>
            <a:ln xmlns:a="http://schemas.openxmlformats.org/drawingml/2006/main" w="23813">
              <a:solidFill>
                <a:srgbClr val="56D5E9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380</c:v>
                </c:pt>
                <c:pt idx="1">
                  <c:v>385</c:v>
                </c:pt>
                <c:pt idx="2">
                  <c:v>390</c:v>
                </c:pt>
                <c:pt idx="3">
                  <c:v>395</c:v>
                </c:pt>
                <c:pt idx="4">
                  <c:v>400</c:v>
                </c:pt>
                <c:pt idx="5">
                  <c:v>405</c:v>
                </c:pt>
                <c:pt idx="6">
                  <c:v>410</c:v>
                </c:pt>
                <c:pt idx="7">
                  <c:v>415</c:v>
                </c:pt>
                <c:pt idx="8">
                  <c:v>420</c:v>
                </c:pt>
                <c:pt idx="9">
                  <c:v>425</c:v>
                </c:pt>
                <c:pt idx="10">
                  <c:v>430</c:v>
                </c:pt>
                <c:pt idx="11">
                  <c:v>435</c:v>
                </c:pt>
                <c:pt idx="12">
                  <c:v>440</c:v>
                </c:pt>
                <c:pt idx="13">
                  <c:v>445</c:v>
                </c:pt>
                <c:pt idx="14">
                  <c:v>450</c:v>
                </c:pt>
                <c:pt idx="15">
                  <c:v>455</c:v>
                </c:pt>
                <c:pt idx="16">
                  <c:v>460</c:v>
                </c:pt>
                <c:pt idx="17">
                  <c:v>465</c:v>
                </c:pt>
                <c:pt idx="18">
                  <c:v>470</c:v>
                </c:pt>
                <c:pt idx="19">
                  <c:v>475</c:v>
                </c:pt>
                <c:pt idx="20">
                  <c:v>480</c:v>
                </c:pt>
                <c:pt idx="21">
                  <c:v>485</c:v>
                </c:pt>
                <c:pt idx="22">
                  <c:v>490</c:v>
                </c:pt>
                <c:pt idx="23">
                  <c:v>495</c:v>
                </c:pt>
                <c:pt idx="24">
                  <c:v>500</c:v>
                </c:pt>
                <c:pt idx="25">
                  <c:v>505</c:v>
                </c:pt>
                <c:pt idx="26">
                  <c:v>510</c:v>
                </c:pt>
                <c:pt idx="27">
                  <c:v>515</c:v>
                </c:pt>
                <c:pt idx="28">
                  <c:v>520</c:v>
                </c:pt>
                <c:pt idx="29">
                  <c:v>525</c:v>
                </c:pt>
                <c:pt idx="30">
                  <c:v>530</c:v>
                </c:pt>
                <c:pt idx="31">
                  <c:v>535</c:v>
                </c:pt>
                <c:pt idx="32">
                  <c:v>540</c:v>
                </c:pt>
                <c:pt idx="33">
                  <c:v>545</c:v>
                </c:pt>
                <c:pt idx="34">
                  <c:v>550</c:v>
                </c:pt>
                <c:pt idx="35">
                  <c:v>555</c:v>
                </c:pt>
                <c:pt idx="36">
                  <c:v>560</c:v>
                </c:pt>
                <c:pt idx="37">
                  <c:v>565</c:v>
                </c:pt>
                <c:pt idx="38">
                  <c:v>570</c:v>
                </c:pt>
                <c:pt idx="39">
                  <c:v>575</c:v>
                </c:pt>
                <c:pt idx="40">
                  <c:v>580</c:v>
                </c:pt>
                <c:pt idx="41">
                  <c:v>585</c:v>
                </c:pt>
                <c:pt idx="42">
                  <c:v>590</c:v>
                </c:pt>
                <c:pt idx="43">
                  <c:v>595</c:v>
                </c:pt>
                <c:pt idx="44">
                  <c:v>600</c:v>
                </c:pt>
                <c:pt idx="45">
                  <c:v>605</c:v>
                </c:pt>
                <c:pt idx="46">
                  <c:v>610</c:v>
                </c:pt>
                <c:pt idx="47">
                  <c:v>615</c:v>
                </c:pt>
                <c:pt idx="48">
                  <c:v>620</c:v>
                </c:pt>
                <c:pt idx="49">
                  <c:v>625</c:v>
                </c:pt>
                <c:pt idx="50">
                  <c:v>630</c:v>
                </c:pt>
                <c:pt idx="51">
                  <c:v>635</c:v>
                </c:pt>
                <c:pt idx="52">
                  <c:v>640</c:v>
                </c:pt>
                <c:pt idx="53">
                  <c:v>645</c:v>
                </c:pt>
                <c:pt idx="54">
                  <c:v>650</c:v>
                </c:pt>
                <c:pt idx="55">
                  <c:v>655</c:v>
                </c:pt>
                <c:pt idx="56">
                  <c:v>660</c:v>
                </c:pt>
                <c:pt idx="57">
                  <c:v>665</c:v>
                </c:pt>
                <c:pt idx="58">
                  <c:v>670</c:v>
                </c:pt>
                <c:pt idx="59">
                  <c:v>675</c:v>
                </c:pt>
                <c:pt idx="60">
                  <c:v>680</c:v>
                </c:pt>
                <c:pt idx="61">
                  <c:v>685</c:v>
                </c:pt>
                <c:pt idx="62">
                  <c:v>690</c:v>
                </c:pt>
                <c:pt idx="63">
                  <c:v>695</c:v>
                </c:pt>
                <c:pt idx="64">
                  <c:v>700</c:v>
                </c:pt>
                <c:pt idx="65">
                  <c:v>705</c:v>
                </c:pt>
                <c:pt idx="66">
                  <c:v>710</c:v>
                </c:pt>
                <c:pt idx="67">
                  <c:v>715</c:v>
                </c:pt>
                <c:pt idx="68">
                  <c:v>720</c:v>
                </c:pt>
                <c:pt idx="69">
                  <c:v>725</c:v>
                </c:pt>
                <c:pt idx="70">
                  <c:v>730</c:v>
                </c:pt>
                <c:pt idx="71">
                  <c:v>735</c:v>
                </c:pt>
                <c:pt idx="72">
                  <c:v>740</c:v>
                </c:pt>
                <c:pt idx="73">
                  <c:v>745</c:v>
                </c:pt>
                <c:pt idx="74">
                  <c:v>750</c:v>
                </c:pt>
                <c:pt idx="75">
                  <c:v>755</c:v>
                </c:pt>
                <c:pt idx="76">
                  <c:v>760</c:v>
                </c:pt>
                <c:pt idx="77">
                  <c:v>765</c:v>
                </c:pt>
                <c:pt idx="78">
                  <c:v>770</c:v>
                </c:pt>
                <c:pt idx="79">
                  <c:v>775</c:v>
                </c:pt>
                <c:pt idx="80">
                  <c:v>780</c:v>
                </c:pt>
              </c:numCache>
            </c:numRef>
          </c:xVal>
          <c:yVal>
            <c:numRef>
              <c:f>'Chart Data'!$B$2:$B$82</c:f>
              <c:numCache>
                <c:formatCode>0.0</c:formatCode>
                <c:ptCount val="81"/>
                <c:pt idx="0">
                  <c:v>0.093146</c:v>
                </c:pt>
                <c:pt idx="1">
                  <c:v>0.10047</c:v>
                </c:pt>
                <c:pt idx="2">
                  <c:v>0.103475</c:v>
                </c:pt>
                <c:pt idx="3">
                  <c:v>0.101697</c:v>
                </c:pt>
                <c:pt idx="4">
                  <c:v>0.094213</c:v>
                </c:pt>
                <c:pt idx="5">
                  <c:v>0.076447</c:v>
                </c:pt>
                <c:pt idx="6">
                  <c:v>0.056793</c:v>
                </c:pt>
                <c:pt idx="7">
                  <c:v>0.058098</c:v>
                </c:pt>
                <c:pt idx="8">
                  <c:v>0.049751</c:v>
                </c:pt>
                <c:pt idx="9">
                  <c:v>0.037434</c:v>
                </c:pt>
                <c:pt idx="10">
                  <c:v>0.033399</c:v>
                </c:pt>
                <c:pt idx="11">
                  <c:v>0.031508</c:v>
                </c:pt>
                <c:pt idx="12">
                  <c:v>0.031821</c:v>
                </c:pt>
                <c:pt idx="13">
                  <c:v>0.034559</c:v>
                </c:pt>
                <c:pt idx="14">
                  <c:v>0.0404</c:v>
                </c:pt>
                <c:pt idx="15">
                  <c:v>0.049975</c:v>
                </c:pt>
                <c:pt idx="16">
                  <c:v>0.064005</c:v>
                </c:pt>
                <c:pt idx="17">
                  <c:v>0.083104</c:v>
                </c:pt>
                <c:pt idx="18">
                  <c:v>0.106293</c:v>
                </c:pt>
                <c:pt idx="19">
                  <c:v>0.127271</c:v>
                </c:pt>
                <c:pt idx="20">
                  <c:v>0.132881</c:v>
                </c:pt>
                <c:pt idx="21">
                  <c:v>0.116262</c:v>
                </c:pt>
                <c:pt idx="22">
                  <c:v>0.088835</c:v>
                </c:pt>
                <c:pt idx="23">
                  <c:v>0.064401</c:v>
                </c:pt>
                <c:pt idx="24">
                  <c:v>0.047228</c:v>
                </c:pt>
                <c:pt idx="25">
                  <c:v>0.036206</c:v>
                </c:pt>
                <c:pt idx="26">
                  <c:v>0.029348</c:v>
                </c:pt>
                <c:pt idx="27">
                  <c:v>0.025134</c:v>
                </c:pt>
                <c:pt idx="28">
                  <c:v>0.022577</c:v>
                </c:pt>
                <c:pt idx="29">
                  <c:v>0.021066</c:v>
                </c:pt>
                <c:pt idx="30">
                  <c:v>0.020221</c:v>
                </c:pt>
                <c:pt idx="31">
                  <c:v>0.019802</c:v>
                </c:pt>
                <c:pt idx="32">
                  <c:v>0.019657</c:v>
                </c:pt>
                <c:pt idx="33">
                  <c:v>0.019685</c:v>
                </c:pt>
                <c:pt idx="34">
                  <c:v>0.019817</c:v>
                </c:pt>
                <c:pt idx="35">
                  <c:v>0.020008</c:v>
                </c:pt>
                <c:pt idx="36">
                  <c:v>0.020226</c:v>
                </c:pt>
                <c:pt idx="37">
                  <c:v>0.020448</c:v>
                </c:pt>
                <c:pt idx="38">
                  <c:v>0.020658</c:v>
                </c:pt>
                <c:pt idx="39">
                  <c:v>0.02084</c:v>
                </c:pt>
                <c:pt idx="40">
                  <c:v>0.020984</c:v>
                </c:pt>
                <c:pt idx="41">
                  <c:v>0.021076</c:v>
                </c:pt>
                <c:pt idx="42">
                  <c:v>0.02109</c:v>
                </c:pt>
                <c:pt idx="43">
                  <c:v>0.020952</c:v>
                </c:pt>
                <c:pt idx="44">
                  <c:v>0.023018</c:v>
                </c:pt>
                <c:pt idx="45">
                  <c:v>0.025001</c:v>
                </c:pt>
                <c:pt idx="46">
                  <c:v>0.02639</c:v>
                </c:pt>
                <c:pt idx="47">
                  <c:v>0.02749</c:v>
                </c:pt>
                <c:pt idx="48">
                  <c:v>0.028394</c:v>
                </c:pt>
                <c:pt idx="49">
                  <c:v>0.029148</c:v>
                </c:pt>
                <c:pt idx="50">
                  <c:v>0.029779</c:v>
                </c:pt>
                <c:pt idx="51">
                  <c:v>0.030306</c:v>
                </c:pt>
                <c:pt idx="52">
                  <c:v>0.030742</c:v>
                </c:pt>
                <c:pt idx="53">
                  <c:v>0.031099</c:v>
                </c:pt>
                <c:pt idx="54">
                  <c:v>0.031384</c:v>
                </c:pt>
                <c:pt idx="55">
                  <c:v>0.031606</c:v>
                </c:pt>
                <c:pt idx="56">
                  <c:v>0.03177</c:v>
                </c:pt>
                <c:pt idx="57">
                  <c:v>0.031881</c:v>
                </c:pt>
                <c:pt idx="58">
                  <c:v>0.031945</c:v>
                </c:pt>
                <c:pt idx="59">
                  <c:v>0.031966</c:v>
                </c:pt>
                <c:pt idx="60">
                  <c:v>0.031947</c:v>
                </c:pt>
                <c:pt idx="61">
                  <c:v>0.031892</c:v>
                </c:pt>
                <c:pt idx="62">
                  <c:v>0.031805</c:v>
                </c:pt>
                <c:pt idx="63">
                  <c:v>0.031688</c:v>
                </c:pt>
                <c:pt idx="64">
                  <c:v>0.031545</c:v>
                </c:pt>
                <c:pt idx="65">
                  <c:v>0.031376</c:v>
                </c:pt>
                <c:pt idx="66">
                  <c:v>0.031186</c:v>
                </c:pt>
                <c:pt idx="67">
                  <c:v>0.030975</c:v>
                </c:pt>
                <c:pt idx="68">
                  <c:v>0.030746</c:v>
                </c:pt>
                <c:pt idx="69">
                  <c:v>0.030501</c:v>
                </c:pt>
                <c:pt idx="70">
                  <c:v>0.030241</c:v>
                </c:pt>
                <c:pt idx="71">
                  <c:v>0.029968</c:v>
                </c:pt>
                <c:pt idx="72">
                  <c:v>0.029684</c:v>
                </c:pt>
                <c:pt idx="73">
                  <c:v>0.029389</c:v>
                </c:pt>
                <c:pt idx="74">
                  <c:v>0.029086</c:v>
                </c:pt>
                <c:pt idx="75">
                  <c:v>0.028774</c:v>
                </c:pt>
                <c:pt idx="76">
                  <c:v>0.028456</c:v>
                </c:pt>
                <c:pt idx="77">
                  <c:v>0.028133</c:v>
                </c:pt>
                <c:pt idx="78">
                  <c:v>0.027804</c:v>
                </c:pt>
                <c:pt idx="79">
                  <c:v>0.027472</c:v>
                </c:pt>
                <c:pt idx="80">
                  <c:v>0.027137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9425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反射率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780"/>
          <c:min val="38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波长 / 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9425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80"/>
      </c:valAx>
      <c:spPr>
        <a:solidFill xmlns:a="http://schemas.openxmlformats.org/drawingml/2006/main">
          <a:srgbClr val="0C111A"/>
        </a:solidFill>
      </c:spPr>
    </c:plotArea>
    <c:plotVisOnly val="1"/>
  </c:chart>
  <c:spPr>
    <a:solidFill xmlns:a="http://schemas.openxmlformats.org/drawingml/2006/main">
      <a:srgbClr val="0C111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A643E-04CD-4404-BD14-8BA43D48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AI 超表面</a:t>
            </a:r>
          </a:p>
          <a:p xmlns:a="http://schemas.openxmlformats.org/drawingml/2006/main">
            <a: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结构色智能设计系统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1C111-928F-4A4B-93F2-CB4704FA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43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面向微纳光学早期设计的 AI 软件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F177A-EF36-491C-B8C9-8F090BA5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0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目标颜色  /  候选结构  /  光谱分析  /  结果导出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C33C3-4615-4781-BEC9-1FE279F9BE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03515c73d427d"/>
          <a:stretch xmlns:a="http://schemas.openxmlformats.org/drawingml/2006/main"/>
        </p:blipFill>
        <p:spPr>
          <a:xfrm xmlns:a="http://schemas.openxmlformats.org/drawingml/2006/main">
            <a:off x="609600" y="3724311"/>
            <a:ext cx="10972800" cy="17906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FD7C9-50C6-4780-8920-92B6648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53100"/>
            <a:ext cx="3848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404 Not Found队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24C5C-0C07-4650-A77E-8E003BA2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819775"/>
            <a:ext cx="6924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算法创新赛 · AI+软件创新   第 4 答辩室 · 序号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AF568-F49D-436C-AB82-DFF238AA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1620066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A652C-02F8-43CB-A5C4-B558086A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团队成员与分工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DE6E3-67DC-4D21-B1E0-F9CE7D3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404 Not Found队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4C042-FA3E-43C4-93FD-C2E4AF81EF53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分工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乔安琪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项目负责人、核心算法、系统开发与主讲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陈雍杰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UI设计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郭千弘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PPT制作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AEC8C-D8D2-478B-AF02-741882BD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33306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0CA5B-FB48-49FF-8A8D-4A90C4E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背景与用户需求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071EA-E997-48C5-91F0-9D88D61F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目标用户：光学教学、研究中的早期方案筛选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BA24A-62F7-4994-96D1-1BCA6BCF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用户先知道颜色，未必知道结构参数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53F50-CEB1-4A1E-96CB-658EB436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输入需求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8821D-EAA4-428F-B0E0-303DD4A1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146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目标色与材料、入射条件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72B27-5563-4BD0-8158-EC7B888F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89AF2-E970-4554-9A71-7119F73C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设计判断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B41D9-48C3-4044-B185-3BDA2477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67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/ H / P 候选、光谱与色差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279C6-A72F-45AC-9724-C659808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4757D-2526-4A04-99F5-86780D0B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继续使用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D7348-C446-45F1-BF29-5CA019E3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96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文件导出与后续物理复核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814BC-10D6-40ED-BE2A-F60576ED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4E123-143D-424A-9AB4-8593EB5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当前定位：快速探索与候选筛选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E12F8-D7E7-4D5E-B3B6-E2BD5E27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770140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454D1-8C01-40C0-B1C1-30E32F2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实际软件流程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10C60-3A12-4E20-B3A7-97C57089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输入目标色，生成候选，再应用、分析和导出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509D7-2B4C-40EC-B327-2FF42E5A52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4eada15764d80"/>
          <a:stretch xmlns:a="http://schemas.openxmlformats.org/drawingml/2006/main"/>
        </p:blipFill>
        <p:spPr>
          <a:xfrm xmlns:a="http://schemas.openxmlformats.org/drawingml/2006/main">
            <a:off x="1600746" y="1724025"/>
            <a:ext cx="6266358" cy="44481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C1AE5-F324-431D-A98C-2CD14F27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430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五个页面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E6D12-C2E6-4B44-B7E5-F4499471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425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16BF3-3948-4F99-999C-57DA86C2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47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11A"/>
          </a:solidFill>
          <a:ln xmlns:a="http://schemas.openxmlformats.org/drawingml/2006/main" w="15240">
            <a:solidFill>
              <a:srgbClr val="56D5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5D664-5DD3-404A-8455-88D5E127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95525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0E04C-1DE0-40B5-8806-4BB96F9B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19325"/>
            <a:ext cx="168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预览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491B2-6DDD-4E3C-9BE7-D45A0A1F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0325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查看结构与颜色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2A65B-70A7-4D4C-8AC0-B2EE7DF6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11A"/>
          </a:solidFill>
          <a:ln xmlns:a="http://schemas.openxmlformats.org/drawingml/2006/main" w="15240">
            <a:solidFill>
              <a:srgbClr val="FFD17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B29CC-A955-4900-8DC9-883C6D68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051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30C62-5276-4B9D-87E2-1F197AE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68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逆设计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4FDF4-A0F1-4EBD-8739-DCED970D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09950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目标色生成候选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C5CD1-BC9D-47A3-9E34-1B2F5758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11A"/>
          </a:solidFill>
          <a:ln xmlns:a="http://schemas.openxmlformats.org/drawingml/2006/main" w="15240">
            <a:solidFill>
              <a:srgbClr val="BAAC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54175-F83B-40B0-8A65-E65A3BFA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14775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26EA6-42C7-437F-91AA-6305EFEB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38575"/>
            <a:ext cx="168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rPr>
              <a:t>图案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388C3-2334-4500-A694-89248133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9575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图片转结构参数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D9E59-0E97-4B08-A232-BA8F782C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676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11A"/>
          </a:solidFill>
          <a:ln xmlns:a="http://schemas.openxmlformats.org/drawingml/2006/main" w="15240">
            <a:solidFill>
              <a:srgbClr val="78D5A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18799-5790-4B71-95EE-5BEEA8BD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2440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D2399-C02C-4B1B-AE87-72F8D56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48200"/>
            <a:ext cx="168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14CBC-B810-40EE-8248-FFB85641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29200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查看 D-H 颜色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1DF62-D520-4433-AAE3-8AE19D51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48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11A"/>
          </a:solidFill>
          <a:ln xmlns:a="http://schemas.openxmlformats.org/drawingml/2006/main" w="15240">
            <a:solidFill>
              <a:srgbClr val="F39EA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1C5C3C-3895-46B9-8C76-590ADE5D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534025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F39E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39E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9EA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0FA14-5FD4-42A8-9E93-C541043B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57825"/>
            <a:ext cx="168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39E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39E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9EAC"/>
                </a:solidFill>
                <a:latin typeface="Microsoft YaHei"/>
                <a:ea typeface="Microsoft YaHei"/>
                <a:cs typeface="Microsoft YaHei"/>
              </a:rPr>
              <a:t>光谱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CC553-959F-4C50-B890-2D9AFCB3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38825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分析波长响应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34E16-0934-48D0-BD67-174E83E01D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4fa197f554714"/>
          <a:stretch xmlns:a="http://schemas.openxmlformats.org/drawingml/2006/main"/>
        </p:blipFill>
        <p:spPr>
          <a:xfrm xmlns:a="http://schemas.openxmlformats.org/drawingml/2006/main">
            <a:off x="10844139" y="2209800"/>
            <a:ext cx="600222" cy="60960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354BD-873A-4896-8679-0EA9BFAA1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15425cb044d87"/>
          <a:stretch xmlns:a="http://schemas.openxmlformats.org/drawingml/2006/main"/>
        </p:blipFill>
        <p:spPr>
          <a:xfrm xmlns:a="http://schemas.openxmlformats.org/drawingml/2006/main">
            <a:off x="10884477" y="3019425"/>
            <a:ext cx="519545" cy="609600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39C34A-6DB5-4748-9BCB-816A122B9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f3f9d73554c09"/>
          <a:stretch xmlns:a="http://schemas.openxmlformats.org/drawingml/2006/main"/>
        </p:blipFill>
        <p:spPr>
          <a:xfrm xmlns:a="http://schemas.openxmlformats.org/drawingml/2006/main">
            <a:off x="10739664" y="3829050"/>
            <a:ext cx="809171" cy="609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196F1A-2DD1-4396-A1BA-CEB78FD6E2AA}"/>
              </a:ext>
            </a:extLst>
          </p:cNvPr>
          <p:cNvGraphicFramePr/>
          <p:nvPr/>
        </p:nvGraphicFramePr>
        <p:xfrm>
          <a:off xmlns:a="http://schemas.openxmlformats.org/drawingml/2006/main" x="10706100" y="4638675"/>
          <a:ext xmlns:a="http://schemas.openxmlformats.org/drawingml/2006/main" cx="876300" cy="609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8"/>
                <a:gridCol w="109538"/>
                <a:gridCol w="109538"/>
                <a:gridCol w="109538"/>
                <a:gridCol w="109538"/>
                <a:gridCol w="109538"/>
                <a:gridCol w="109538"/>
                <a:gridCol w="109538"/>
              </a:tblGrid>
              <a:tr h="101600"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333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52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5445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E4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93E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62E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3F1A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34030B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638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5D4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6D4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6E420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663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5B2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511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70506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33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5E4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794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8845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873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7C2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6E1E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610600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3F45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5856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795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95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A34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A03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9221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830A00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3E48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505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706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956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B2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BE4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B92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AA1600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14A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4B6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627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887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B177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CE6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D94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"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0" marR="0" marT="0" marB="0">
                    <a:solidFill>
                      <a:srgbClr val="D32F00"/>
                    </a:solidFill>
                  </a:tcPr>
                </a:tc>
              </a:tr>
            </a:tbl>
          </a:graphicData>
        </a:graphic>
      </p:graphicFrame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88D642-A9BC-4259-A12C-4EEE94F4E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7675222aa4c11"/>
          <a:stretch xmlns:a="http://schemas.openxmlformats.org/drawingml/2006/main"/>
        </p:blipFill>
        <p:spPr>
          <a:xfrm xmlns:a="http://schemas.openxmlformats.org/drawingml/2006/main">
            <a:off x="10706100" y="5462529"/>
            <a:ext cx="876300" cy="581141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2BF48-B181-4340-8FB0-73ECD1F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来源：本地界面存档与应用流程记录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351C1-D272-4F9C-8BAA-DA66B3F0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320037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7F27D-7007-4ABC-8904-C3EDCB58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系统架构与运行环境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809D4-B043-451B-9383-9B08A37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Streamlit 界面连接本地模型、颜色计算和文件导出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1A55B-EC30-4A8B-B2DA-622B9D7A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7CA7E-5CF4-4236-9A04-22A2DAE6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EA820-A43C-42EF-A933-D5A95BB0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结构与材料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目标色与入射条件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4FD95-15BF-4CC8-BC09-1F562521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01874-3D12-4C67-A27A-F9EFEE6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上下文检查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CF6F7-A124-4592-AEE1-C63998C0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资源与数据形状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96AFA-7245-40F0-9761-8D649242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7AA53-57A3-43BA-877D-32978DCC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计算路由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6E56B-FE9D-4BC6-A5FD-A44D68FD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注册代理模型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解析近似 / FP-TMM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C6B02-FECD-4C1A-AA9D-88EEE21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D9A8B-B982-470B-8767-FEDC292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结果表达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83A13-FD03-432E-B3DC-1B14B54C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光谱与颜色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CSV / JSON / 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4ECFD-193A-4F4A-8ABE-C4346497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89DD5-E44D-413A-BAD4-C1DA2506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结果随上下文保存，参数变化后旧结果失效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4FB28-3371-4EFA-B36C-7770FEB8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Python · NumPy · PyTorch · ONNX Runtime CPU</a:t>
            </a:r>
          </a:p>
          <a:p xmlns:a="http://schemas.openxmlformats.org/drawingml/2006/main">
            <a: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本地准备好依赖后可断网使用，云端已有部署版本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1785B-E671-4760-B639-9384A39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564312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086C7-E6D8-476B-B04E-B19E454F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核心代理模型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4AD45-34FA-4638-BEA4-1ED7074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ResMLP 学习几何参数与反射光谱的关系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FAD04-F7E0-4655-8C2D-CC40AB54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7 维输入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261B0-F7BA-447A-BEE1-0447823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D、H、P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入射角、偏振编码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材料编码、衬底编码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63A4B-BE78-4F60-9978-9A3F95A0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残差多层感知机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08367-635D-4EF7-B2B3-D9F9DFAD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09875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典型实现：256 维隐藏层，4 个残差块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部分路线按注册模型取均值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F69DF-B4AC-4B00-800A-6618C8DA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81450"/>
            <a:ext cx="6429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81 点反射光谱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9FD00-DBE0-4078-938A-B17E068A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638675"/>
            <a:ext cx="642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380–780 nm，间隔 5 nm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6875D-5B1B-4E1B-9738-D7CA873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ONNX 前向推理与 PyTorch 梯度路线使用对应资源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BB877-6B18-4B9B-B331-10A1753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历史代理用于流程与候选探索，绝对物理精度尚未按修复后求解器重新验证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A53DB-EB7E-4399-B3FC-186E9C6E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933507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4D51E-7A78-4436-90B4-E8F94F8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两阶段智能网格搜索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60D22-C689-4541-B4AB-21251800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当前模型范围内的候选筛选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444F2-01BF-43C5-A06A-39D087AE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粗网格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27B49-824D-425B-8340-0558F49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8 × 8 ×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3CC48-43EF-4D1E-AB86-C9F64D60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先检查几何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DDAF-2E47-4393-98D8-A3347BA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种子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F856A-B131-4063-B91E-6CD1A118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Top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BC414-96BD-4E10-B214-3B07175D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按 ΔE00 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51E5A-5CDD-4443-A045-C911094D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局部细化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0FCC5-27D5-4B36-9CDF-8B115180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3 × 3 ×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03CAB-54EE-4378-965B-B4D89DE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每轴 ±8 nm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F7432-3741-4DED-BF15-AECA97F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候选输出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83EA7-3657-4D94-A773-7AF9F893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多样性检查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F1E36-C0EC-4793-97F9-ABEB915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舍入后复算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1A612-1D67-48A8-A0B9-F45E67CA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7B740-9E47-4F13-81B5-5F156B0A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50–350 nm     H 80–600 nm     P 200–600 nm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8A8BE-6DC4-428E-86C9-8FAD472D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几何过滤：P ≥ 1.2D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31893-CC67-433B-83A2-BC43E215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默认采样位置上限 512 + 81，最终候选另做复算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7D974-7A1F-4EE0-9FD7-F8F43E33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545946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84709-8781-43BE-B10C-1588537A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真实候选案例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937F5-4FD9-4D22-B361-ADEFE82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TiO₂ / SiO₂，单柱，TE，0°；2026-10-06 保存结果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A9D86-46B1-4038-9968-E2BA494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790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C8FF"/>
          </a:solidFill>
          <a:ln xmlns:a="http://schemas.openxmlformats.org/drawingml/2006/main" w="4763">
            <a:solidFill>
              <a:srgbClr val="ADB8C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94668-6457-48CB-89E7-A1D18FA4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8573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目标色 #80C8FF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4CBD2-89A7-4475-B97B-EC28AD172EAE}"/>
              </a:ext>
            </a:extLst>
          </p:cNvPr>
          <p:cNvGraphicFramePr/>
          <p:nvPr/>
        </p:nvGraphicFramePr>
        <p:xfrm>
          <a:off xmlns:a="http://schemas.openxmlformats.org/drawingml/2006/main" x="609600" y="26955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90600"/>
                <a:gridCol w="1743075"/>
                <a:gridCol w="1743075"/>
                <a:gridCol w="1743075"/>
                <a:gridCol w="2476500"/>
                <a:gridCol w="2276475"/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 sRGB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ΔE00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350.0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511.5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484.9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#6C8895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21.67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316.7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369.6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454.5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#7E8A95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21.80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301.5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369.6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454.5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#678095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23.01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DA7FC-BBB7-436E-8A73-426360E9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目标色与当前候选仍有明显差距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23A6B-DE8E-4BC1-8B59-D68ADFF5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来源：offline_flow_smart_20261006.json；色差衡量模型显示颜色与目标色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EC5EC-D488-4955-A133-C0FC00F3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2250264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834C3-272A-4428-9990-8F04AB06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审核参考光谱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9C9DC-732C-4019-8630-F3FDF572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记录 #4；TiO₂ / SiO₂ / air，p 偏振，0°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AB1AF2F-3BA2-4893-B07E-AF27251A1118}"/>
              </a:ext>
            </a:extLst>
          </p:cNvPr>
          <p:cNvGraphicFramePr/>
          <p:nvPr/>
        </p:nvGraphicFramePr>
        <p:xfrm>
          <a:off xmlns:a="http://schemas.openxmlformats.org/drawingml/2006/main" x="590550" y="1857375"/>
          <a:ext xmlns:a="http://schemas.openxmlformats.org/drawingml/2006/main" cx="7658100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efed4c25d649f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AB509-2B1A-4373-984D-BCE31EDF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97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D / H / 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32B3D-6E1D-40DE-BDE7-470D113E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384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140 / 281 / 407 nm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60777-32D7-4538-A357-E6DB4B8F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781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D49"/>
          </a:solidFill>
          <a:ln xmlns:a="http://schemas.openxmlformats.org/drawingml/2006/main" w="4763">
            <a:solidFill>
              <a:srgbClr val="ADB8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249D6-8A75-49AB-802F-660A0F10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43275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#242D49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63A6B-85D8-4EEF-92BD-84862528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05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最大 |R+T−1|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51CE0-BCD6-469D-9516-F6DA0484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5297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3.67×10⁻¹³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0BA74-3256-465B-9B27-B990CA4E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81625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nG=151，Nxy=256</a:t>
            </a:r>
          </a:p>
          <a:p xmlns:a="http://schemas.openxmlformats.org/drawingml/2006/main">
            <a: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原始 81 点，5 nm 间隔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A41C5-A2CB-4F89-85D3-BAF4FED5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守恒不等同于 RCWA 收敛；图表采用 81 点，R 保留 6 位小数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E56D8-2EF6-433B-BAD5-A2877F10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1206792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4452F-0A26-470E-B73A-C5539C34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颜色表达与色度复算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19D46-A334-4BBA-9907-D3A116D0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反射光谱结合 D65 与 CIE 1931，生成显示颜色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A05CA-A66F-4F7D-BE32-83F4EBBB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反射光谱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0DFBD-6894-4641-9830-2833EB71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240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81 点 R(λ)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A79E3-7C43-4E3F-B219-1C26C308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XYZ 与色度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213B8-5CCC-46ED-A633-9A2C769A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90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D65，CIE 1931 2°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7C8E2-04A8-49D8-9E48-F70B964D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sRGB 显示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1DEB4-764D-48CC-83CA-D5581DF8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576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矩阵变换与传递函数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F4660-A6AA-40E3-895E-01BB4231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7FE2C-2CC6-4053-8F8B-9C605295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24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CIEDE2000 色差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4E08E-5F18-45E3-9FAA-95988C3AD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0111469e14658"/>
          <a:stretch xmlns:a="http://schemas.openxmlformats.org/drawingml/2006/main"/>
        </p:blipFill>
        <p:spPr>
          <a:xfrm xmlns:a="http://schemas.openxmlformats.org/drawingml/2006/main">
            <a:off x="7664387" y="1762125"/>
            <a:ext cx="3445002" cy="39147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8BB55-79DE-43AD-8A6E-F65F3A50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81025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真实交互页的 TE 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54850-6B62-4A7B-918F-32622C0A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1.47×10⁻⁸ 是 sRGB 分量复算差异，不是 ΔE00 或实验误差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DF440-215B-4B26-ACC7-AFA2EBBB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2766101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4B02C-79D4-4728-949F-4C151A3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图案映射与文件导出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E39E5-4CEC-4265-A5A8-C2F04372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独立单柱解析路线，按 Lab 近邻匹配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38759-E71C-4D87-ABE3-0906D24A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3163F-4593-4927-8357-3847806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0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图像缩放后提取像素颜色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8B002-A050-4688-B9A1-D6ED1F5B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结构参数阵列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DBF77-AAB2-4183-8AE9-83A3E57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/ H / P 对应每个输出像素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4334D-D27F-4FA2-8BD4-04542208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PNG / CSV / JSON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2E28C-254D-41A5-8904-7D6B9C8263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34267f40e4401"/>
          <a:stretch xmlns:a="http://schemas.openxmlformats.org/drawingml/2006/main"/>
        </p:blipFill>
        <p:spPr>
          <a:xfrm xmlns:a="http://schemas.openxmlformats.org/drawingml/2006/main">
            <a:off x="4591050" y="1922031"/>
            <a:ext cx="6924675" cy="389976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9298C-456C-469E-B764-22F2BDC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截图为 4×3 功能测试图；输出参数仍需工艺与物理复核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1AB16-8F47-4D96-870F-8745A993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3695914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3538B-F6A1-4F87-ACB2-17DCB4D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数据审核与软件验证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DA7D3-920C-4DCB-A195-B1086A5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物理数据检查与功能测试分别报告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3F48A-539A-454A-A7CB-E47FF975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21,088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19961-7260-40F8-B54E-38E9DAF5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审核参考记录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3F83B-2889-44ED-9908-7C644D47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D0AB4-9CD7-4CFE-924A-98B7BEF7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无效记录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DE18E-32E0-4E9F-B2CC-6809F6C3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1.79×10⁻⁷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2DF46-45A4-4C74-92B7-FDCAF1E8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最大点级 |R+T−1|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AAAE1-3AF7-4907-BEAE-1EB2E1A87046}"/>
              </a:ext>
            </a:extLst>
          </p:cNvPr>
          <p:cNvGraphicFramePr/>
          <p:nvPr/>
        </p:nvGraphicFramePr>
        <p:xfrm>
          <a:off xmlns:a="http://schemas.openxmlformats.org/drawingml/2006/main" x="609600" y="3581400"/>
          <a:ext xmlns:a="http://schemas.openxmlformats.org/drawingml/2006/main" cx="10972800" cy="2105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143500"/>
                <a:gridCol w="3733800"/>
              </a:tblGrid>
              <a:tr h="701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检查层级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已保存结果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数据与颜色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字段、81 点、有限值、守恒及复算通过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TiO₂ / SiO₂ / air，p，0°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运行与流程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 项运行检查；19 项应用流程通过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2026-10-06 离线版本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50D77-995B-42D1-84E0-17B8D45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来源：本地审计 JSON；分辨率设置不构成收敛声明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93525-C62C-48C4-B076-29211939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85576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14A2A-BC07-4823-A967-E5B8E74F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同类工作流对比与软件创新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8B631-E1B8-4F59-8411-0A8D6915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按工作流能力比较，不宣称未经测试的性能领先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71B3E-51AC-4B82-8683-F2470540D9CA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667000"/>
                <a:gridCol w="2667000"/>
                <a:gridCol w="3562350"/>
              </a:tblGrid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设计环节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分散脚本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单一预测工具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本系统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输入与模型条件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由使用者传递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依赖工具约定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上下文与资源检查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结果表达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需额外整合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多为单一结果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多候选、光谱与色度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结果复用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手工整理文件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依赖单独实现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导出与上下文绑定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A8906-7D30-4CDF-B32B-75476D4E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约束搜索与候选复算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34EDC-61A5-490F-889D-A279F169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219700"/>
            <a:ext cx="5438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模型资源与结果上下文绑定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2A4B2-7E63-4AD1-85A1-094B0357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对比对象是常见工作流形态；核心算法与工具的已有来源见备注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831C9-C3EB-464B-A4EF-33EEF6E0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787688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54C3B-649B-4F2E-94F5-EAB4E0EB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应用场景与推广路径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64B8A-F2CE-4AFE-94CC-61281CEC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先服务教学和早期筛选，再验证器件应用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3B67D-866B-4197-9A89-C280EE78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光学教学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8230B-A67A-4312-9195-A7261A52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867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理解参数、光谱与颜色的关系</a:t>
            </a:r>
          </a:p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用现有参考记录做可复核案例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ED733-4EAA-4AEE-B361-764E581B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43100"/>
            <a:ext cx="5210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早期方案筛选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A74A4-7F74-4679-8725-E566AFC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76525"/>
            <a:ext cx="5210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比较候选并导出结构数据</a:t>
            </a:r>
          </a:p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交给统一物理或实验验证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FAF59-1081-4B4E-A800-B8488ADC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E9CA1-9B4D-448F-952A-3F05F17C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01  离线示例与教程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55E37-A719-4B9B-85C2-CA3CDA8B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02  小规模任务试用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29472-B416-423A-A315-2F020FBF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2915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03  工艺与实验闭环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898C1-A836-469A-BB38-E5E41C49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87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后续试用拟记录完成时间、失败原因和用户反馈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648A4-4C20-43CF-9113-3547007C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推广步骤为计划，当前没有试点效果或商业收入声明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6FAB3-B2AB-4333-A9B8-2CC9876D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4100952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7C6B5-65E3-466F-A82B-12EE4021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总结与下一步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6583B-4621-4198-97E1-D46A4177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目标颜色、候选结构、光谱色度和导出形成完整软件流程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A4E2D-392D-4669-BCD2-EA1408F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2B12D-3131-41BD-AB64-20290508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62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本地交互、候选搜索、分析与导出</a:t>
            </a:r>
          </a:p>
          <a:p xmlns:a="http://schemas.openxmlformats.org/drawingml/2006/main">
            <a: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参考数据审核与真实功能检查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537F3-2960-4853-AF85-5295647A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待完善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2BA4B-63A9-4F4C-8920-D230C9FC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0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模型覆盖与候选匹配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制造约束、任务试用及实验验证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0D621-ED3A-4716-90AA-473EED5E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404 Not Found队   谢谢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E418E-374E-419B-9F2B-F3C75654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576402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2026-10-09T15:29:34.3620000Z</dcterms:created>
  <dcterms:modified xsi:type="dcterms:W3CDTF">2026-10-09T15:29:34.3620000Z</dcterms:modified>
</coreProperties>
</file>