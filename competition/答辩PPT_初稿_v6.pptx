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48adbefd4410b" /><Relationship Type="http://schemas.openxmlformats.org/officeDocument/2006/relationships/extended-properties" Target="/docProps/app.xml" Id="Rad4ec96ff00b4f95" /><Relationship Type="http://schemas.openxmlformats.org/officeDocument/2006/relationships/officeDocument" Target="/ppt/presentation.xml" Id="R46a02b091311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0fe87261c460a"/>
  </p:sldMasterIdLst>
  <p:notesMasterIdLst>
    <p:notesMasterId xmlns:r="http://schemas.openxmlformats.org/officeDocument/2006/relationships" r:id="R8b8d97a6bce545e3"/>
  </p:notesMasterIdLst>
  <p:sldIdLst>
    <p:sldId xmlns:r="http://schemas.openxmlformats.org/officeDocument/2006/relationships" id="256" r:id="Rc95ed643cda44392"/>
    <p:sldId xmlns:r="http://schemas.openxmlformats.org/officeDocument/2006/relationships" id="257" r:id="Rfc35e6e6e2b0483b"/>
    <p:sldId xmlns:r="http://schemas.openxmlformats.org/officeDocument/2006/relationships" id="258" r:id="Rac2d704d7c6d4d1b"/>
    <p:sldId xmlns:r="http://schemas.openxmlformats.org/officeDocument/2006/relationships" id="259" r:id="Reb9b63c4603e4d92"/>
    <p:sldId xmlns:r="http://schemas.openxmlformats.org/officeDocument/2006/relationships" id="260" r:id="Ra0caaa421e3147b6"/>
    <p:sldId xmlns:r="http://schemas.openxmlformats.org/officeDocument/2006/relationships" id="261" r:id="R28ff6f82dd434b37"/>
    <p:sldId xmlns:r="http://schemas.openxmlformats.org/officeDocument/2006/relationships" id="262" r:id="Ra2aea641b42c4166"/>
    <p:sldId xmlns:r="http://schemas.openxmlformats.org/officeDocument/2006/relationships" id="263" r:id="R7aa41cb9896f4b80"/>
    <p:sldId xmlns:r="http://schemas.openxmlformats.org/officeDocument/2006/relationships" id="264" r:id="Ra087eacd8851498a"/>
    <p:sldId xmlns:r="http://schemas.openxmlformats.org/officeDocument/2006/relationships" id="265" r:id="R4f3b0bd90b024f4a"/>
    <p:sldId xmlns:r="http://schemas.openxmlformats.org/officeDocument/2006/relationships" id="266" r:id="R537463dcf8e44a59"/>
    <p:sldId xmlns:r="http://schemas.openxmlformats.org/officeDocument/2006/relationships" id="267" r:id="Rc7afa1d60b35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ca8bb6ed97402d" /><Relationship Type="http://schemas.openxmlformats.org/officeDocument/2006/relationships/slideMaster" Target="/ppt/slideMasters/slideMaster1.xml" Id="Rf8b0fe87261c460a" /><Relationship Type="http://schemas.openxmlformats.org/officeDocument/2006/relationships/notesMaster" Target="/ppt/notesMasters/notesMaster1.xml" Id="R8b8d97a6bce545e3" /><Relationship Type="http://schemas.openxmlformats.org/officeDocument/2006/relationships/presProps" Target="/ppt/presProps.xml" Id="Rbfa49dfc4a4e4247" /><Relationship Type="http://schemas.openxmlformats.org/officeDocument/2006/relationships/tableStyles" Target="/ppt/tableStyles.xml" Id="R51b918c4677549cd" /><Relationship Type="http://schemas.openxmlformats.org/officeDocument/2006/relationships/slide" Target="/ppt/slides/slide1.xml" Id="Rc95ed643cda44392" /><Relationship Type="http://schemas.openxmlformats.org/officeDocument/2006/relationships/slide" Target="/ppt/slides/slide2.xml" Id="Rfc35e6e6e2b0483b" /><Relationship Type="http://schemas.openxmlformats.org/officeDocument/2006/relationships/slide" Target="/ppt/slides/slide3.xml" Id="Rac2d704d7c6d4d1b" /><Relationship Type="http://schemas.openxmlformats.org/officeDocument/2006/relationships/slide" Target="/ppt/slides/slide4.xml" Id="Reb9b63c4603e4d92" /><Relationship Type="http://schemas.openxmlformats.org/officeDocument/2006/relationships/slide" Target="/ppt/slides/slide5.xml" Id="Ra0caaa421e3147b6" /><Relationship Type="http://schemas.openxmlformats.org/officeDocument/2006/relationships/slide" Target="/ppt/slides/slide6.xml" Id="R28ff6f82dd434b37" /><Relationship Type="http://schemas.openxmlformats.org/officeDocument/2006/relationships/slide" Target="/ppt/slides/slide7.xml" Id="Ra2aea641b42c4166" /><Relationship Type="http://schemas.openxmlformats.org/officeDocument/2006/relationships/slide" Target="/ppt/slides/slide8.xml" Id="R7aa41cb9896f4b80" /><Relationship Type="http://schemas.openxmlformats.org/officeDocument/2006/relationships/slide" Target="/ppt/slides/slide9.xml" Id="Ra087eacd8851498a" /><Relationship Type="http://schemas.openxmlformats.org/officeDocument/2006/relationships/slide" Target="/ppt/slides/slide10.xml" Id="R4f3b0bd90b024f4a" /><Relationship Type="http://schemas.openxmlformats.org/officeDocument/2006/relationships/slide" Target="/ppt/slides/slide11.xml" Id="R537463dcf8e44a59" /><Relationship Type="http://schemas.openxmlformats.org/officeDocument/2006/relationships/slide" Target="/ppt/slides/slide12.xml" Id="Rc7afa1d60b35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37c17d850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e95f94ce5b4cdb" /><Relationship Type="http://schemas.openxmlformats.org/officeDocument/2006/relationships/notesMaster" Target="/ppt/notesMasters/notesMaster1.xml" Id="R2f58e24c0659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66f6a2ee84c27" /><Relationship Type="http://schemas.openxmlformats.org/officeDocument/2006/relationships/notesMaster" Target="/ppt/notesMasters/notesMaster1.xml" Id="R96f02567ebe340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ae515d28a4247" /><Relationship Type="http://schemas.openxmlformats.org/officeDocument/2006/relationships/notesMaster" Target="/ppt/notesMasters/notesMaster1.xml" Id="R582de6b8bdfb47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51ea9d1664afd" /><Relationship Type="http://schemas.openxmlformats.org/officeDocument/2006/relationships/notesMaster" Target="/ppt/notesMasters/notesMaster1.xml" Id="Re32543d4739a4a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a52769b284b94" /><Relationship Type="http://schemas.openxmlformats.org/officeDocument/2006/relationships/notesMaster" Target="/ppt/notesMasters/notesMaster1.xml" Id="Rb1cd177902c7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c517d87b3749d8" /><Relationship Type="http://schemas.openxmlformats.org/officeDocument/2006/relationships/notesMaster" Target="/ppt/notesMasters/notesMaster1.xml" Id="Rb2f2a2b952cd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24269b66d7496a" /><Relationship Type="http://schemas.openxmlformats.org/officeDocument/2006/relationships/notesMaster" Target="/ppt/notesMasters/notesMaster1.xml" Id="R3a91046cb6804d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e21f9f59c4fb9" /><Relationship Type="http://schemas.openxmlformats.org/officeDocument/2006/relationships/notesMaster" Target="/ppt/notesMasters/notesMaster1.xml" Id="Raa0b56a83cb249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12882aba66423e" /><Relationship Type="http://schemas.openxmlformats.org/officeDocument/2006/relationships/notesMaster" Target="/ppt/notesMasters/notesMaster1.xml" Id="R5136a1b9b00649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eef3d7c24a4f23" /><Relationship Type="http://schemas.openxmlformats.org/officeDocument/2006/relationships/notesMaster" Target="/ppt/notesMasters/notesMaster1.xml" Id="R283a9c9865aa48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8711eaa9f24964" /><Relationship Type="http://schemas.openxmlformats.org/officeDocument/2006/relationships/notesMaster" Target="/ppt/notesMasters/notesMaster1.xml" Id="R8621716f231046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b3c5aa62b24163" /><Relationship Type="http://schemas.openxmlformats.org/officeDocument/2006/relationships/notesMaster" Target="/ppt/notesMasters/notesMaster1.xml" Id="R5acfaf4cd4cf4b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 Workbuddy 网站式展示页首屏截图，随后进入交互系统；提交前使用脱敏展示信息。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痛点表述来自项目现有产品定位，不依赖外部统计数字。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应用场景是产品化叙事，不宣称已经完成大规模产业部署。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工作流与当前 app.py 的五个标签和导出入口保持一致。几何单位：单柱 D/H/P，双柱 D1/H1/D2/H2/P，单位均为 nm。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技术路线只描述当前应用已存在的产品层能力，内部运行状态不进入竞赛方案。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不宣称三种路线拥有相同的模型域或相同的验证等级。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功能名称与 app.py 的五个标签及侧栏导出入口保持一致。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工程证据来自当前版本的发布门禁、合同测试和本地 smoke；正式提交前随最终包归档运行报告。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创新点避免使用未验证的行业排名、性能领先或全局最优表述。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推广计划是后续路线，不表述为已经完成的产业化部署。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边界声明与项目现有 UI 的来源标注和模型可用域提示保持一致。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结束页只保留作品名称和产品价值，提交前继续保持脱敏。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eeb6f72e649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a8a36c7db49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43d1178444c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7959a80d74a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05272420c4a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76b8d35d3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F097C9-E164-4013-9A0B-D6A2FF04E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8AAA17-57D3-482F-84B1-88E171097A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BA547B-C9E5-4729-882D-66E3525FA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72352-B74C-4D2F-B41D-543D4CB877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E11717-1526-4DDF-A17A-4823CDFE8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3F69E9-62A5-4286-B25B-663800BC4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DB1F32-0FE1-4DA9-9B46-D65E7A774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50F97C-9CDF-4B61-B466-E53530521D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284F84-A734-4667-8D9E-3FA4633D0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5E3265-7384-4F6B-AB67-8C74E24FE2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e9ce910bb42be" /><Relationship Type="http://schemas.openxmlformats.org/officeDocument/2006/relationships/slideLayout" Target="/ppt/slideLayouts/slideLayout1.xml" Id="R370ffd89d20343ab" /><Relationship Type="http://schemas.openxmlformats.org/officeDocument/2006/relationships/slideLayout" Target="/ppt/slideLayouts/slideLayout2.xml" Id="Rb88912e6e8ce4f07" /><Relationship Type="http://schemas.openxmlformats.org/officeDocument/2006/relationships/slideLayout" Target="/ppt/slideLayouts/slideLayout3.xml" Id="Rd9b187925efc46c8" /><Relationship Type="http://schemas.openxmlformats.org/officeDocument/2006/relationships/slideLayout" Target="/ppt/slideLayouts/slideLayout4.xml" Id="Rbc65a4a61959403b" /><Relationship Type="http://schemas.openxmlformats.org/officeDocument/2006/relationships/slideLayout" Target="/ppt/slideLayouts/slideLayout5.xml" Id="Rb9aa097bbc78490c" /><Relationship Type="http://schemas.openxmlformats.org/officeDocument/2006/relationships/slideLayout" Target="/ppt/slideLayouts/slideLayout6.xml" Id="R939bb8d6f60e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ffd89d20343ab"/>
    <p:sldLayoutId xmlns:r="http://schemas.openxmlformats.org/officeDocument/2006/relationships" id="2147483650" r:id="Rb88912e6e8ce4f07"/>
    <p:sldLayoutId xmlns:r="http://schemas.openxmlformats.org/officeDocument/2006/relationships" id="2147483651" r:id="Rd9b187925efc46c8"/>
    <p:sldLayoutId xmlns:r="http://schemas.openxmlformats.org/officeDocument/2006/relationships" id="2147483652" r:id="Rbc65a4a61959403b"/>
    <p:sldLayoutId xmlns:r="http://schemas.openxmlformats.org/officeDocument/2006/relationships" id="2147483653" r:id="Rb9aa097bbc78490c"/>
    <p:sldLayoutId xmlns:r="http://schemas.openxmlformats.org/officeDocument/2006/relationships" id="2147483654" r:id="R939bb8d6f60e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cebb0b36b45f2" /><Relationship Type="http://schemas.openxmlformats.org/officeDocument/2006/relationships/image" Target="/ppt/media/image.png" Id="R23e5f5f1c6e44d82" /><Relationship Type="http://schemas.openxmlformats.org/officeDocument/2006/relationships/notesSlide" Target="/ppt/notesSlides/notesSlide1.xml" Id="R766bfeb656e7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caadaa2d546d3" /><Relationship Type="http://schemas.openxmlformats.org/officeDocument/2006/relationships/notesSlide" Target="/ppt/notesSlides/notesSlide2.xml" Id="Rbbad283e8c61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79efa296d4a75" /><Relationship Type="http://schemas.openxmlformats.org/officeDocument/2006/relationships/notesSlide" Target="/ppt/notesSlides/notesSlide3.xml" Id="R18cc3e8286a8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a1be050e74822" /><Relationship Type="http://schemas.openxmlformats.org/officeDocument/2006/relationships/notesSlide" Target="/ppt/notesSlides/notesSlide4.xml" Id="Rc2e0d933b52f45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f29f0d39243d8" /><Relationship Type="http://schemas.openxmlformats.org/officeDocument/2006/relationships/notesSlide" Target="/ppt/notesSlides/notesSlide5.xml" Id="R67b81742e1a6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ed1d24d7c4a38" /><Relationship Type="http://schemas.openxmlformats.org/officeDocument/2006/relationships/notesSlide" Target="/ppt/notesSlides/notesSlide6.xml" Id="R33f928749c8447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34c94e6a24634" /><Relationship Type="http://schemas.openxmlformats.org/officeDocument/2006/relationships/notesSlide" Target="/ppt/notesSlides/notesSlide7.xml" Id="Rb5d13110581b49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523a74b4347d0" /><Relationship Type="http://schemas.openxmlformats.org/officeDocument/2006/relationships/notesSlide" Target="/ppt/notesSlides/notesSlide8.xml" Id="Rccd164185fb2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ad93fec684d86" /><Relationship Type="http://schemas.openxmlformats.org/officeDocument/2006/relationships/notesSlide" Target="/ppt/notesSlides/notesSlide9.xml" Id="R7d8764cf70e144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70a28cda440a2" /><Relationship Type="http://schemas.openxmlformats.org/officeDocument/2006/relationships/notesSlide" Target="/ppt/notesSlides/notesSlide10.xml" Id="R24f35a4ca0cb49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451879f1643cf" /><Relationship Type="http://schemas.openxmlformats.org/officeDocument/2006/relationships/notesSlide" Target="/ppt/notesSlides/notesSlide11.xml" Id="Rdf0bdd7a519c40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368ff845a4a5b" /><Relationship Type="http://schemas.openxmlformats.org/officeDocument/2006/relationships/notesSlide" Target="/ppt/notesSlides/notesSlide12.xml" Id="Rd7b26c9cffce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FCAF9-B7A0-4B5A-99C6-46B0A731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AI超表面结构色智能设计系统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D632E-0431-42E6-B9FC-3074D5F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从目标颜色到纳米结构参数的 AI 辅助设计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0F7D-D9AB-48A7-B101-1A1E558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竞赛答辩初稿  ·  作品方案与演示材料工作台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14338-0EAE-434B-B077-CE1F737EF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5f5f1c6e44d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83820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9A76B-8FA8-4252-8056-BFE33828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网站式展示入口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21B45-D865-43B4-A6B6-11790B5B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3855F-D7A5-4169-8E81-9FEA6EA1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目标颜色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89C05-E6AF-4B5E-A8D2-34A87E8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D9660-1A95-4ECF-9431-DE9CF14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AI候选搜索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3D06C-E678-4280-82D9-E5D313E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FCA1C-5727-47D4-851D-33FD7F46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光谱与色度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64AB9-15A6-455A-B18D-64D0FAD0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4F68F-0993-4739-974C-E13B8FCC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参数导出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26A26-2123-4770-8F6C-1212EBF1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6E6"/>
          </a:solidFill>
          <a:ln xmlns:a="http://schemas.openxmlformats.org/drawingml/2006/main" w="0">
            <a:solidFill>
              <a:srgbClr val="2456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98D33-B859-4599-91F6-5B08050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5D6"/>
          </a:solidFill>
          <a:ln xmlns:a="http://schemas.openxmlformats.org/drawingml/2006/main" w="0">
            <a:solidFill>
              <a:srgbClr val="29C5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E9A6A-BDE7-4FD3-979B-40AE4FF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solidFill>
              <a:srgbClr val="17B97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94512-D242-4BD6-BABA-A09B6375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B35AD-E50C-4514-82B1-35D5679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C45"/>
          </a:solidFill>
          <a:ln xmlns:a="http://schemas.openxmlformats.org/drawingml/2006/main" w="0">
            <a:solidFill>
              <a:srgbClr val="EF7C45"/>
            </a:solidFill>
          </a:ln>
        </p:spPr>
      </p:sp>
    </p:spTree>
    <p:extLst>
      <p:ext uri="{BB962C8B-B14F-4D97-AF65-F5344CB8AC3E}">
        <p14:creationId xmlns:p14="http://schemas.microsoft.com/office/powerpoint/2010/main" val="529341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89577-6DF9-48A1-B4C6-3696431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设计痛点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EEB0F-3B75-49FC-9E4F-4C68DD10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为什么需要一个 AI 结构色设计工具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9FFE5-F89B-4701-84A5-BEB4117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A0BAD-F916-45F0-A98B-F61A87F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34861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6C5AF-C1B0-4227-8AB4-E968A40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3143250" cy="34861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F65F0-A371-49E6-A7C8-86F54A7C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3143250" cy="34861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E9C3A-5200-473A-A95E-F9D6B83F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试错成本高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81078-3584-484D-90EC-0FD085F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材料、直径、高度、周期和入射条件相互影响，人工调参难以快速找到方向。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E1ADE-BC78-47B4-A9AB-D6C89E9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C5D6"/>
                </a:solidFill>
                <a:latin typeface="Arial"/>
                <a:ea typeface="Arial"/>
                <a:cs typeface="Arial"/>
              </a:rPr>
              <a:t>结果难解释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299F-65BD-405E-AC2F-EC0E067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光谱、颜色和结构参数常常分散在不同脚本或软件中，难以形成统一判断。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83443-2428-478E-BC8D-632B20A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57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图案难落地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A2A3B-37CE-4007-B2B5-CCED1C2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86050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从单点颜色扩展到图案时，需要把每个像素转成可记录、可复用的结构参数。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E7949-C3EC-4CD9-A216-DA38A82D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产品目标：把目标颜色、模型预测、光谱分析和结构参数导出放在同一条工作流中。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0955A-D083-49C1-BF82-92B56882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2</a:t>
            </a:r>
          </a:p>
        </p:txBody>
      </p:sp>
    </p:spTree>
    <p:extLst>
      <p:ext uri="{BB962C8B-B14F-4D97-AF65-F5344CB8AC3E}">
        <p14:creationId xmlns:p14="http://schemas.microsoft.com/office/powerpoint/2010/main" val="831728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A133D-004D-45E7-8441-1EF168F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用户与应用场景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67C04-DB9E-4AB3-BE75-956A72B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先解决早期设计与教学中的高频问题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A6A2E-2DC6-4397-A001-1B2308FC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1FDAF-66CD-44DB-8151-70BA250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6648B-A480-44BC-9447-25817D03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微纳光学设计人员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C70BE-1FDB-4CEC-A879-01EC340C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快速筛选材料和几何参数，形成可继续复核的候选方案。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D94FA-E08F-44F9-9B01-1FE13EC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5D6"/>
          </a:solidFill>
          <a:ln xmlns:a="http://schemas.openxmlformats.org/drawingml/2006/main" w="0">
            <a:solidFill>
              <a:srgbClr val="29C5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51122-F735-4D0C-AF52-9F23A30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光学与材料教学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929FF-4E01-4CF4-A103-1882E27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直观看到结构参数、光谱、色度和颜色之间的联系。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C4C15-7456-45D6-B998-C9277C51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solidFill>
              <a:srgbClr val="17B9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69509-1483-4597-B20F-7B5D61E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防伪与显示设计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22B5A-0B8A-4A60-9DD0-F0F2F69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从目标颜色或图案进入结构参数阵列的初步方案。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85136-98BC-42B7-A8D8-76AAACFD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C242D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643E-3938-463B-8FB2-F7D6531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当前产品边界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16CD7-36C5-4BDB-8D7B-D8E02A1A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系统面向快速设计、可视化和候选筛选，不把代理预测直接等同于实验测量或一次性全波结论。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AC42E-C8A7-4EC7-8BE8-7870682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3</a:t>
            </a:r>
          </a:p>
        </p:txBody>
      </p:sp>
    </p:spTree>
    <p:extLst>
      <p:ext uri="{BB962C8B-B14F-4D97-AF65-F5344CB8AC3E}">
        <p14:creationId xmlns:p14="http://schemas.microsoft.com/office/powerpoint/2010/main" val="63371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CC247-5DFA-451E-830E-B4A0FBB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产品工作流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E064-F2A8-4481-BAEE-F9BD7C6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一条主线覆盖输入、设计、分析和导出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78866-567B-4459-865F-E549ABA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CC325-E0DC-428B-9BA5-3D16547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A85CD-6FD5-41C3-BD8D-819280B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用户输入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C5C99-E235-4D3D-8D6E-B9B23C8E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0F2AA-2327-4DDD-8AA2-06FF35D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9B30-B56B-4E9E-B7A1-629015F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上下文检查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94FC3-B367-4F84-93A8-CCD637D2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E3D95-373E-4277-B5F2-83BBFACE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242D"/>
          </a:solidFill>
          <a:ln xmlns:a="http://schemas.openxmlformats.org/drawingml/2006/main" w="9525">
            <a:solidFill>
              <a:srgbClr val="F2B7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953A6-52AE-422B-88A5-0EA8212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模型路由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1F34F-09AE-4D16-9EDB-DB90B48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57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E2EC4-6B70-4510-9D3D-98376CE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186E2-53E2-4C7B-A302-7690E6F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光谱与色度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D7ABE-E3F4-48D0-8FFC-848D328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DDA87-2052-464A-A4CE-BAB050E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E8ECC-F067-436E-9525-FC77B04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候选与图案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1ADEE-9882-4AC0-BF6F-91245BD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4AC48-71D5-45E4-B86F-535BAAD0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1428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1CCD0-6A86-40E0-B6EF-48E66E7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结果导出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8814D-5A85-41E6-A839-EBA55C5B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结构类型 · 材料 · 衬底 · 偏振 · 入射角 · 目标颜色 · 图案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3522D-3C86-4530-8358-F4A74E4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颜色预览 · 反射光谱 · CIE 1931 · ΔE00 · D/H/P · CSV/JSON/PNG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1DC7D-A7F3-4B10-9426-34F699E5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4</a:t>
            </a:r>
          </a:p>
        </p:txBody>
      </p:sp>
    </p:spTree>
    <p:extLst>
      <p:ext uri="{BB962C8B-B14F-4D97-AF65-F5344CB8AC3E}">
        <p14:creationId xmlns:p14="http://schemas.microsoft.com/office/powerpoint/2010/main" val="1932583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98DB3-2A69-4E28-8048-588D2D52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AD7D-0BD5-4159-AD0D-D3C5240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 模型与物理路线通过显式路由协同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33635-F7EC-431C-B159-B8167D5F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32D18-CE42-4F3C-AA3D-57C49DD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28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02E9-5638-4F67-9332-180168E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输入层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72950-67A2-4984-8EB0-B36D11F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结构参数、材料、衬底、偏振、入射角、目标颜色和图案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06E26-54F9-400E-A384-36B7DDB0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B3069-8CF1-4914-8484-514AA0A5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28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242D"/>
          </a:solidFill>
          <a:ln xmlns:a="http://schemas.openxmlformats.org/drawingml/2006/main" w="9525">
            <a:solidFill>
              <a:srgbClr val="F2B70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D59BC-9F43-4145-9214-91041C5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路由层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A9E82-F9C3-4FC8-8220-0620319C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检查当前上下文、模型资源和适用域，选择可用路线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26310-2E9A-4275-A35D-CA6E439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D2E4-8BF0-455A-921F-E63929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28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B497D-A4CF-4BFE-B236-1EEE875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计算层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CFF33-C288-497D-BBFA-D07F98A2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RCWA 训练代理、Lorentz/Fano 近似、FP-TMM、角谱后处理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C0303-25E1-42C3-9C79-038BF3D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291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7B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687C9-3E2E-4A59-8B82-6322992C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28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98C38-1404-4F68-A8BB-76735F11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95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表达层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CE228-A0B0-413C-AB58-46C835A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光谱、颜色、CIE 1931、候选参数、映射图和导出文件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5F9EB-A808-4508-BB5A-C8CB400F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5</a:t>
            </a:r>
          </a:p>
        </p:txBody>
      </p:sp>
    </p:spTree>
    <p:extLst>
      <p:ext uri="{BB962C8B-B14F-4D97-AF65-F5344CB8AC3E}">
        <p14:creationId xmlns:p14="http://schemas.microsoft.com/office/powerpoint/2010/main" val="1253319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7597C-76D7-4483-A7F8-633569C7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AI 算法与物理模型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01D8-15E8-4906-822D-E3FE751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不同路线负责不同问题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5427-96C9-4014-8140-751F0B4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063DA-0F59-42F1-9AA5-C661C96C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2385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FED5-1665-4C89-B9EF-CB3ACC1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13C3F-5D6B-4ACE-A97D-1A030B9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2385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960A5-D696-450B-B678-2E3E942A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机器学习代理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64C0D-45F8-493E-8026-63E3D33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快速预测结构参数对应的光谱或颜色，为目标色搜索提供候选。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15B66-4F1A-410A-B12D-AC3DB351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C5D6"/>
                </a:solidFill>
                <a:latin typeface="Arial"/>
                <a:ea typeface="Arial"/>
                <a:cs typeface="Arial"/>
              </a:rPr>
              <a:t>解析与半解析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08AFC-EDF0-460F-B9E4-0A855E5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在模型不可用或需要趋势分析时，提供可解释的快速估计。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937D1-56FE-444F-9851-406AF93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FP-TMM 与角谱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BCDE8-6F37-424F-931F-B49A11F2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支持薄膜腔体路线和远场/NA 后处理等扩展分析。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2591D-B19E-4492-95CA-99F651C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界面始终显示结果来源、模型版本和适用边界。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F5155-2458-488E-B26E-75C4631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6</a:t>
            </a:r>
          </a:p>
        </p:txBody>
      </p:sp>
    </p:spTree>
    <p:extLst>
      <p:ext uri="{BB962C8B-B14F-4D97-AF65-F5344CB8AC3E}">
        <p14:creationId xmlns:p14="http://schemas.microsoft.com/office/powerpoint/2010/main" val="1631960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0E734-5370-4749-8924-2B3682E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6DB8F-DCA6-4814-B2F7-4E996166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当前主界面已经形成完整的产品链路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58E5-142A-4C3C-9C23-04BEE17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B61F0-3409-4DC2-8B1A-ADF87C1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02BE9-0B38-4FBC-85FE-D8379B13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71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预览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F616E-71E5-4F0A-9DBE-074E9F5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颜色、HEX/RGB、结构参数和来源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905CA-2B66-4097-847F-5365327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6212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6A6C0-6D6C-4586-8E00-ECDF424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71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C5D6"/>
                </a:solidFill>
                <a:latin typeface="Arial"/>
                <a:ea typeface="Arial"/>
                <a:cs typeface="Arial"/>
              </a:rPr>
              <a:t>逆设计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0CEB7-B9F5-442A-98AF-CFDABD00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目标颜色到 D/H/P 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E0577-43EA-4736-AE99-80001E0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D142E-0949-4727-839A-E142329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71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56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56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56E6"/>
                </a:solidFill>
                <a:latin typeface="Arial"/>
                <a:ea typeface="Arial"/>
                <a:cs typeface="Arial"/>
              </a:rPr>
              <a:t>光谱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B1386-E42F-4014-AF17-B5324E8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907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反射光谱、CIE 1931、角度扫描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948D6-7656-4783-99F7-17497B9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708BF-2154-4E4F-B091-F357211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图案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A75A8-0215-40AD-9A0B-DDFF665A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图像到结构参数阵列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15809-FEF3-4CA8-ACC7-F6005DE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39298-4348-4C9D-8815-56C4CDE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F7C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F7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F7C45"/>
                </a:solidFill>
                <a:latin typeface="Arial"/>
                <a:ea typeface="Arial"/>
                <a:cs typeface="Arial"/>
              </a:rPr>
              <a:t>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4445C-4C55-4BB0-9448-C47CE2D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D-H 颜色映射和可用域提示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84E65-C389-41AA-B7A2-2CF30F26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94256-2755-4215-87B5-A5BC92B5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EA7D4-AB31-428B-8A68-78FACCE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CSV、JSON、PNG、metadata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C372D-A92E-4EEC-A117-2F23DB2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7</a:t>
            </a:r>
          </a:p>
        </p:txBody>
      </p:sp>
    </p:spTree>
    <p:extLst>
      <p:ext uri="{BB962C8B-B14F-4D97-AF65-F5344CB8AC3E}">
        <p14:creationId xmlns:p14="http://schemas.microsoft.com/office/powerpoint/2010/main" val="2127665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0F3B5-C2E3-48A4-9F4A-5B4EE837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工程证据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17ABF-3F8B-44ED-A2D7-1C20400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先展示可复核的产品事实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A7E56-197F-40DF-A775-8CB4E50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B6CC7-AFCE-486B-A64C-6F43706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C163F-7150-4F78-BBD7-851B794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47600-4593-4651-AA7A-2B1DD6C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关键 UI/交互合同与发布门禁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3D42B-0768-43B5-B3AD-4A767AE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762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D5C89-AD3D-4F41-90B7-3A157899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37B9F-82EF-4ED1-BC23-E13D0571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本地 Streamlit 健康检查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37ABC-D455-424A-A55A-465CD69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762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D9932-E72F-49CA-8164-E7DAF4D2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4类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BE41-BED8-4AEF-9EAF-11D147B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CSV / JSON / PNG / metadata 导出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EC29F-F27D-42D1-9F9C-6D2A7D7A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4762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1372C-958F-4223-BBFB-BB1626B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2套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CC075-E13F-40EF-BF39-5DA72F97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网站展示与本地离线备份路径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7A511-D0F4-4918-A31D-931D9A64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说明：这些是工程和产品证据，不替代全波仿真或实验测量证据。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999B7-6FE0-4BE0-AC1F-016B81C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8</a:t>
            </a:r>
          </a:p>
        </p:txBody>
      </p:sp>
    </p:spTree>
    <p:extLst>
      <p:ext uri="{BB962C8B-B14F-4D97-AF65-F5344CB8AC3E}">
        <p14:creationId xmlns:p14="http://schemas.microsoft.com/office/powerpoint/2010/main" val="1122229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89C46-581B-4756-81D0-88AC86D0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E4DF-46FE-4A47-8920-13660C4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把模型能力组织成可使用的软件流程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66785-FA83-42B7-BCAF-FC309C7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321AE-B0D5-4979-8C1E-4ADC4B0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8B1A2-53BE-4BEE-8779-8D8687A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闭环工作流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E6EF-7196-44E8-9286-C04E2C8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目标色逆设计、正向预览、光谱分析和导出在同一界面完成。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FBB24-CF2B-4233-8FEE-A01D6A2F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5D6"/>
          </a:solidFill>
          <a:ln xmlns:a="http://schemas.openxmlformats.org/drawingml/2006/main" w="0">
            <a:solidFill>
              <a:srgbClr val="29C5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10C03-EFC8-45C4-B54F-C4B6215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可解释路由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BA97C-D7D1-4692-BB50-A44CED24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用户可以看到当前结果来自哪条模型路线，以及适用边界。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86913-49AF-4A73-87AF-85562CB2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solidFill>
              <a:srgbClr val="17B9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CC41C-AFFB-4972-9BCB-B4979537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图案级扩展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70E38-DEDB-44AF-8DA4-B2D2252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从单点颜色候选扩展到逐像素结构参数阵列。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2BAA0-9F7F-423B-A07D-BAF8DD3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57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C242D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D90DC-C275-42F2-951C-64C8A688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差异化重点：不是单独提供一个预测模型，而是把预测、分析和设计输出连接起来。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981F8-82DC-4EEB-B83E-D6D4A6D1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9</a:t>
            </a:r>
          </a:p>
        </p:txBody>
      </p:sp>
    </p:spTree>
    <p:extLst>
      <p:ext uri="{BB962C8B-B14F-4D97-AF65-F5344CB8AC3E}">
        <p14:creationId xmlns:p14="http://schemas.microsoft.com/office/powerpoint/2010/main" val="1365807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7A838-5560-4346-AD3B-A385023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应用价值与推广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00FC8-E5BF-48B8-982E-E1FCDF1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从个人工具走向可复用的设计服务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357C-BAA2-491F-8447-92690B54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5C1C8-D4F2-484E-A7E2-9B851173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F67D-4656-4428-9F1C-A3182A5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当前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1061A-69F1-4AF7-A149-FEC6F629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本地软件原型与离线演示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10804-92C5-47C6-8E44-07B3FB2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94067-3BD9-4BDB-B459-A1BA5A4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ED7F6-9B6F-453C-8EC6-0466F38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9C5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C5D6"/>
                </a:solidFill>
                <a:latin typeface="Arial"/>
                <a:ea typeface="Arial"/>
                <a:cs typeface="Arial"/>
              </a:rPr>
              <a:t>校赛前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751D5-AF15-417A-AEB4-6564C9B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本地录屏、材料标准化、在线地址待复核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CA9D6-1FD3-4299-BBFB-A2C10FEE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2C306-A7B4-408B-8212-D8E26D7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AE327-7039-4973-B014-C6EBC07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后续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0F7CF-11B1-49BC-8B08-786BBC2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用户试用、制造约束、实验复核与团队复用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5AA3F-357D-461A-B550-3CA28F5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48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当前交付：本地离线包 + 可选在线部署 + 标准化导出文件。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76DCE-FA01-42D2-895D-648458A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10</a:t>
            </a:r>
          </a:p>
        </p:txBody>
      </p:sp>
    </p:spTree>
    <p:extLst>
      <p:ext uri="{BB962C8B-B14F-4D97-AF65-F5344CB8AC3E}">
        <p14:creationId xmlns:p14="http://schemas.microsoft.com/office/powerpoint/2010/main" val="14869308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4E367-1693-4E94-BF9E-F561C78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边界与改进计划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39BCA-8AF2-40A5-8B50-E0574B0C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诚实标注当前产品能做什么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11C85-591E-47D8-B272-E58C5D3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17A5D-D2CF-4F7E-BFD0-AE89F920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C45"/>
          </a:solidFill>
          <a:ln xmlns:a="http://schemas.openxmlformats.org/drawingml/2006/main" w="0">
            <a:solidFill>
              <a:srgbClr val="EF7C4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EB82E-3689-4016-9891-E60FDC7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结果边界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A78F6-C080-43C5-BAA0-17374D83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代理预测和解析近似用于快速设计与候选筛选，不等同于实验测量。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546D8-3B31-4233-A30B-97116B2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C45"/>
          </a:solidFill>
          <a:ln xmlns:a="http://schemas.openxmlformats.org/drawingml/2006/main" w="0">
            <a:solidFill>
              <a:srgbClr val="EF7C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68D63-49AD-4A9C-AE82-28862F6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模型边界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93217-C63D-43EF-9F5C-C047116B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不同结构、材料和衬底的模型域不同，系统按上下文显示可用路线。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BD612-915D-44D1-892A-1EC904E5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C45"/>
          </a:solidFill>
          <a:ln xmlns:a="http://schemas.openxmlformats.org/drawingml/2006/main" w="0">
            <a:solidFill>
              <a:srgbClr val="EF7C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F5C6D-519B-426B-82B4-F8F899B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部署边界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44139-0AA9-47CA-8175-72CB287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在线服务用于评审展示，竞赛部署与研究计算版本分开管理。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980DE-6428-4EE4-9D8E-C19AF63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C242D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32E47-ECCE-4741-BC29-6E905AC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下一步：最终录屏、在线地址复核、用户试用记录、统一效果测试。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7E36C-2308-4FF9-874E-25345476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AI超表面结构色智能设计系统  ·  11</a:t>
            </a:r>
          </a:p>
        </p:txBody>
      </p:sp>
    </p:spTree>
    <p:extLst>
      <p:ext uri="{BB962C8B-B14F-4D97-AF65-F5344CB8AC3E}">
        <p14:creationId xmlns:p14="http://schemas.microsoft.com/office/powerpoint/2010/main" val="1077828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EB39B-85E7-4804-AB69-238452EE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AI超表面结构色智能设计系统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CDD4B-1A14-499E-AFDB-B21DD9F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2B70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705"/>
                </a:solidFill>
                <a:latin typeface="Arial"/>
                <a:ea typeface="Arial"/>
                <a:cs typeface="Arial"/>
              </a:rPr>
              <a:t>目标颜色  ·  结构参数  ·  光谱分析  ·  图案导出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AFB4D-B571-4BE7-9290-FC04D49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8763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9525">
            <a:solidFill>
              <a:srgbClr val="2A34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C04F4-F070-42B3-991B-872A474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05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把结构色设计从反复试错，变成可交互、可解释、可导出的 AI 软件流程。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1F057-4524-4D5D-A99A-AB3784D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AA7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AA7B5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637969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2026-10-01T11:31:06.9370000Z</dcterms:created>
  <dcterms:modified xsi:type="dcterms:W3CDTF">2026-10-01T11:31:06.9370000Z</dcterms:modified>
</coreProperties>
</file>